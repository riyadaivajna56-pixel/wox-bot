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0" d="100"/>
          <a:sy n="40" d="100"/>
        </p:scale>
        <p:origin x="90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3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7999" cy="10286999"/>
          </a:xfrm>
          <a:prstGeom prst="rect">
            <a:avLst/>
          </a:prstGeom>
        </p:spPr>
      </p:pic>
      <p:sp>
        <p:nvSpPr>
          <p:cNvPr id="2" name="Holder 2"/>
          <p:cNvSpPr>
            <a:spLocks noGrp="1"/>
          </p:cNvSpPr>
          <p:nvPr>
            <p:ph type="title"/>
          </p:nvPr>
        </p:nvSpPr>
        <p:spPr>
          <a:xfrm>
            <a:off x="2867600" y="2907841"/>
            <a:ext cx="12424410" cy="665479"/>
          </a:xfrm>
          <a:prstGeom prst="rect">
            <a:avLst/>
          </a:prstGeom>
        </p:spPr>
        <p:txBody>
          <a:bodyPr wrap="square" lIns="0" tIns="0" rIns="0" bIns="0">
            <a:spAutoFit/>
          </a:bodyPr>
          <a:lstStyle>
            <a:lvl1pPr>
              <a:defRPr sz="43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3/27/2026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8521" y="2521368"/>
            <a:ext cx="16601440" cy="7143115"/>
          </a:xfrm>
          <a:custGeom>
            <a:avLst/>
            <a:gdLst/>
            <a:ahLst/>
            <a:cxnLst/>
            <a:rect l="l" t="t" r="r" b="b"/>
            <a:pathLst>
              <a:path w="16601440" h="7143115">
                <a:moveTo>
                  <a:pt x="15814335" y="7142737"/>
                </a:moveTo>
                <a:lnTo>
                  <a:pt x="790575" y="7142737"/>
                </a:lnTo>
                <a:lnTo>
                  <a:pt x="742415" y="7141295"/>
                </a:lnTo>
                <a:lnTo>
                  <a:pt x="695018" y="7137021"/>
                </a:lnTo>
                <a:lnTo>
                  <a:pt x="648468" y="7130000"/>
                </a:lnTo>
                <a:lnTo>
                  <a:pt x="602845" y="7120314"/>
                </a:lnTo>
                <a:lnTo>
                  <a:pt x="558234" y="7108045"/>
                </a:lnTo>
                <a:lnTo>
                  <a:pt x="514717" y="7093277"/>
                </a:lnTo>
                <a:lnTo>
                  <a:pt x="472377" y="7076092"/>
                </a:lnTo>
                <a:lnTo>
                  <a:pt x="431295" y="7056572"/>
                </a:lnTo>
                <a:lnTo>
                  <a:pt x="391556" y="7034801"/>
                </a:lnTo>
                <a:lnTo>
                  <a:pt x="353242" y="7010860"/>
                </a:lnTo>
                <a:lnTo>
                  <a:pt x="316434" y="6984834"/>
                </a:lnTo>
                <a:lnTo>
                  <a:pt x="281217" y="6956804"/>
                </a:lnTo>
                <a:lnTo>
                  <a:pt x="247673" y="6926853"/>
                </a:lnTo>
                <a:lnTo>
                  <a:pt x="215884" y="6895064"/>
                </a:lnTo>
                <a:lnTo>
                  <a:pt x="185933" y="6861520"/>
                </a:lnTo>
                <a:lnTo>
                  <a:pt x="157903" y="6826303"/>
                </a:lnTo>
                <a:lnTo>
                  <a:pt x="131876" y="6789495"/>
                </a:lnTo>
                <a:lnTo>
                  <a:pt x="107936" y="6751181"/>
                </a:lnTo>
                <a:lnTo>
                  <a:pt x="86165" y="6711441"/>
                </a:lnTo>
                <a:lnTo>
                  <a:pt x="66645" y="6670360"/>
                </a:lnTo>
                <a:lnTo>
                  <a:pt x="49460" y="6628020"/>
                </a:lnTo>
                <a:lnTo>
                  <a:pt x="34692" y="6584502"/>
                </a:lnTo>
                <a:lnTo>
                  <a:pt x="22423" y="6539891"/>
                </a:lnTo>
                <a:lnTo>
                  <a:pt x="12737" y="6494269"/>
                </a:lnTo>
                <a:lnTo>
                  <a:pt x="5716" y="6447719"/>
                </a:lnTo>
                <a:lnTo>
                  <a:pt x="1442" y="6400322"/>
                </a:lnTo>
                <a:lnTo>
                  <a:pt x="0" y="6352162"/>
                </a:lnTo>
                <a:lnTo>
                  <a:pt x="0" y="790575"/>
                </a:lnTo>
                <a:lnTo>
                  <a:pt x="1442" y="742415"/>
                </a:lnTo>
                <a:lnTo>
                  <a:pt x="5716" y="695018"/>
                </a:lnTo>
                <a:lnTo>
                  <a:pt x="12737" y="648468"/>
                </a:lnTo>
                <a:lnTo>
                  <a:pt x="22423" y="602845"/>
                </a:lnTo>
                <a:lnTo>
                  <a:pt x="34692" y="558234"/>
                </a:lnTo>
                <a:lnTo>
                  <a:pt x="49460" y="514717"/>
                </a:lnTo>
                <a:lnTo>
                  <a:pt x="66645" y="472377"/>
                </a:lnTo>
                <a:lnTo>
                  <a:pt x="86165" y="431295"/>
                </a:lnTo>
                <a:lnTo>
                  <a:pt x="107936" y="391556"/>
                </a:lnTo>
                <a:lnTo>
                  <a:pt x="131876" y="353242"/>
                </a:lnTo>
                <a:lnTo>
                  <a:pt x="157903" y="316434"/>
                </a:lnTo>
                <a:lnTo>
                  <a:pt x="185933" y="281217"/>
                </a:lnTo>
                <a:lnTo>
                  <a:pt x="215884" y="247673"/>
                </a:lnTo>
                <a:lnTo>
                  <a:pt x="247673" y="215884"/>
                </a:lnTo>
                <a:lnTo>
                  <a:pt x="281217" y="185933"/>
                </a:lnTo>
                <a:lnTo>
                  <a:pt x="316434" y="157903"/>
                </a:lnTo>
                <a:lnTo>
                  <a:pt x="353242" y="131876"/>
                </a:lnTo>
                <a:lnTo>
                  <a:pt x="391556" y="107936"/>
                </a:lnTo>
                <a:lnTo>
                  <a:pt x="431295" y="86165"/>
                </a:lnTo>
                <a:lnTo>
                  <a:pt x="472377" y="66645"/>
                </a:lnTo>
                <a:lnTo>
                  <a:pt x="514717" y="49460"/>
                </a:lnTo>
                <a:lnTo>
                  <a:pt x="558234" y="34692"/>
                </a:lnTo>
                <a:lnTo>
                  <a:pt x="602845" y="22423"/>
                </a:lnTo>
                <a:lnTo>
                  <a:pt x="648468" y="12737"/>
                </a:lnTo>
                <a:lnTo>
                  <a:pt x="695018" y="5716"/>
                </a:lnTo>
                <a:lnTo>
                  <a:pt x="742415" y="1442"/>
                </a:lnTo>
                <a:lnTo>
                  <a:pt x="790575" y="0"/>
                </a:lnTo>
                <a:lnTo>
                  <a:pt x="15814335" y="0"/>
                </a:lnTo>
                <a:lnTo>
                  <a:pt x="15862494" y="1442"/>
                </a:lnTo>
                <a:lnTo>
                  <a:pt x="15909891" y="5716"/>
                </a:lnTo>
                <a:lnTo>
                  <a:pt x="15956442" y="12737"/>
                </a:lnTo>
                <a:lnTo>
                  <a:pt x="16002064" y="22423"/>
                </a:lnTo>
                <a:lnTo>
                  <a:pt x="16046676" y="34692"/>
                </a:lnTo>
                <a:lnTo>
                  <a:pt x="16090193" y="49460"/>
                </a:lnTo>
                <a:lnTo>
                  <a:pt x="16132533" y="66645"/>
                </a:lnTo>
                <a:lnTo>
                  <a:pt x="16173615" y="86165"/>
                </a:lnTo>
                <a:lnTo>
                  <a:pt x="16213354" y="107936"/>
                </a:lnTo>
                <a:lnTo>
                  <a:pt x="16251669" y="131876"/>
                </a:lnTo>
                <a:lnTo>
                  <a:pt x="16288476" y="157903"/>
                </a:lnTo>
                <a:lnTo>
                  <a:pt x="16323693" y="185933"/>
                </a:lnTo>
                <a:lnTo>
                  <a:pt x="16357238" y="215884"/>
                </a:lnTo>
                <a:lnTo>
                  <a:pt x="16389027" y="247673"/>
                </a:lnTo>
                <a:lnTo>
                  <a:pt x="16418978" y="281217"/>
                </a:lnTo>
                <a:lnTo>
                  <a:pt x="16447008" y="316434"/>
                </a:lnTo>
                <a:lnTo>
                  <a:pt x="16473034" y="353242"/>
                </a:lnTo>
                <a:lnTo>
                  <a:pt x="16496975" y="391556"/>
                </a:lnTo>
                <a:lnTo>
                  <a:pt x="16518746" y="431295"/>
                </a:lnTo>
                <a:lnTo>
                  <a:pt x="16538265" y="472377"/>
                </a:lnTo>
                <a:lnTo>
                  <a:pt x="16555451" y="514717"/>
                </a:lnTo>
                <a:lnTo>
                  <a:pt x="16570219" y="558234"/>
                </a:lnTo>
                <a:lnTo>
                  <a:pt x="16582488" y="602845"/>
                </a:lnTo>
                <a:lnTo>
                  <a:pt x="16592174" y="648468"/>
                </a:lnTo>
                <a:lnTo>
                  <a:pt x="16599195" y="695018"/>
                </a:lnTo>
                <a:lnTo>
                  <a:pt x="16601284" y="718187"/>
                </a:lnTo>
                <a:lnTo>
                  <a:pt x="16601284" y="6424550"/>
                </a:lnTo>
                <a:lnTo>
                  <a:pt x="16592174" y="6494269"/>
                </a:lnTo>
                <a:lnTo>
                  <a:pt x="16582488" y="6539891"/>
                </a:lnTo>
                <a:lnTo>
                  <a:pt x="16570219" y="6584502"/>
                </a:lnTo>
                <a:lnTo>
                  <a:pt x="16555451" y="6628020"/>
                </a:lnTo>
                <a:lnTo>
                  <a:pt x="16538265" y="6670360"/>
                </a:lnTo>
                <a:lnTo>
                  <a:pt x="16518746" y="6711441"/>
                </a:lnTo>
                <a:lnTo>
                  <a:pt x="16496975" y="6751181"/>
                </a:lnTo>
                <a:lnTo>
                  <a:pt x="16473034" y="6789495"/>
                </a:lnTo>
                <a:lnTo>
                  <a:pt x="16447008" y="6826303"/>
                </a:lnTo>
                <a:lnTo>
                  <a:pt x="16418978" y="6861520"/>
                </a:lnTo>
                <a:lnTo>
                  <a:pt x="16389027" y="6895064"/>
                </a:lnTo>
                <a:lnTo>
                  <a:pt x="16357238" y="6926853"/>
                </a:lnTo>
                <a:lnTo>
                  <a:pt x="16323693" y="6956804"/>
                </a:lnTo>
                <a:lnTo>
                  <a:pt x="16288476" y="6984834"/>
                </a:lnTo>
                <a:lnTo>
                  <a:pt x="16251669" y="7010860"/>
                </a:lnTo>
                <a:lnTo>
                  <a:pt x="16213354" y="7034801"/>
                </a:lnTo>
                <a:lnTo>
                  <a:pt x="16173615" y="7056572"/>
                </a:lnTo>
                <a:lnTo>
                  <a:pt x="16132533" y="7076092"/>
                </a:lnTo>
                <a:lnTo>
                  <a:pt x="16090193" y="7093277"/>
                </a:lnTo>
                <a:lnTo>
                  <a:pt x="16046676" y="7108045"/>
                </a:lnTo>
                <a:lnTo>
                  <a:pt x="16002064" y="7120314"/>
                </a:lnTo>
                <a:lnTo>
                  <a:pt x="15956442" y="7130000"/>
                </a:lnTo>
                <a:lnTo>
                  <a:pt x="15909891" y="7137021"/>
                </a:lnTo>
                <a:lnTo>
                  <a:pt x="15862494" y="7141295"/>
                </a:lnTo>
                <a:lnTo>
                  <a:pt x="15814335" y="7142737"/>
                </a:lnTo>
                <a:close/>
              </a:path>
            </a:pathLst>
          </a:custGeom>
          <a:solidFill>
            <a:srgbClr val="99ACB5">
              <a:alpha val="79998"/>
            </a:srgbClr>
          </a:solidFill>
        </p:spPr>
        <p:txBody>
          <a:bodyPr wrap="square" lIns="0" tIns="0" rIns="0" bIns="0" rtlCol="0"/>
          <a:lstStyle/>
          <a:p>
            <a:endParaRPr/>
          </a:p>
        </p:txBody>
      </p:sp>
      <p:grpSp>
        <p:nvGrpSpPr>
          <p:cNvPr id="3" name="object 3"/>
          <p:cNvGrpSpPr/>
          <p:nvPr/>
        </p:nvGrpSpPr>
        <p:grpSpPr>
          <a:xfrm>
            <a:off x="1028700" y="156959"/>
            <a:ext cx="12635230" cy="2215515"/>
            <a:chOff x="1028700" y="156959"/>
            <a:chExt cx="12635230" cy="2215515"/>
          </a:xfrm>
        </p:grpSpPr>
        <p:pic>
          <p:nvPicPr>
            <p:cNvPr id="4" name="object 4"/>
            <p:cNvPicPr/>
            <p:nvPr/>
          </p:nvPicPr>
          <p:blipFill>
            <a:blip r:embed="rId2" cstate="print"/>
            <a:stretch>
              <a:fillRect/>
            </a:stretch>
          </p:blipFill>
          <p:spPr>
            <a:xfrm>
              <a:off x="6188118" y="156959"/>
              <a:ext cx="4190999" cy="1952624"/>
            </a:xfrm>
            <a:prstGeom prst="rect">
              <a:avLst/>
            </a:prstGeom>
          </p:spPr>
        </p:pic>
        <p:pic>
          <p:nvPicPr>
            <p:cNvPr id="5" name="object 5"/>
            <p:cNvPicPr/>
            <p:nvPr/>
          </p:nvPicPr>
          <p:blipFill>
            <a:blip r:embed="rId3" cstate="print"/>
            <a:stretch>
              <a:fillRect/>
            </a:stretch>
          </p:blipFill>
          <p:spPr>
            <a:xfrm>
              <a:off x="1028700" y="603012"/>
              <a:ext cx="5162549" cy="1057274"/>
            </a:xfrm>
            <a:prstGeom prst="rect">
              <a:avLst/>
            </a:prstGeom>
          </p:spPr>
        </p:pic>
        <p:pic>
          <p:nvPicPr>
            <p:cNvPr id="6" name="object 6"/>
            <p:cNvPicPr/>
            <p:nvPr/>
          </p:nvPicPr>
          <p:blipFill>
            <a:blip r:embed="rId4" cstate="print"/>
            <a:stretch>
              <a:fillRect/>
            </a:stretch>
          </p:blipFill>
          <p:spPr>
            <a:xfrm>
              <a:off x="10377758" y="228993"/>
              <a:ext cx="3286124" cy="2143124"/>
            </a:xfrm>
            <a:prstGeom prst="rect">
              <a:avLst/>
            </a:prstGeom>
          </p:spPr>
        </p:pic>
      </p:grpSp>
      <p:pic>
        <p:nvPicPr>
          <p:cNvPr id="7" name="object 7"/>
          <p:cNvPicPr/>
          <p:nvPr/>
        </p:nvPicPr>
        <p:blipFill>
          <a:blip r:embed="rId5" cstate="print"/>
          <a:stretch>
            <a:fillRect/>
          </a:stretch>
        </p:blipFill>
        <p:spPr>
          <a:xfrm>
            <a:off x="14092501" y="0"/>
            <a:ext cx="2676524" cy="2371724"/>
          </a:xfrm>
          <a:prstGeom prst="rect">
            <a:avLst/>
          </a:prstGeom>
        </p:spPr>
      </p:pic>
      <p:sp>
        <p:nvSpPr>
          <p:cNvPr id="8" name="object 8"/>
          <p:cNvSpPr txBox="1"/>
          <p:nvPr/>
        </p:nvSpPr>
        <p:spPr>
          <a:xfrm>
            <a:off x="2109299" y="5736061"/>
            <a:ext cx="7805420" cy="1890261"/>
          </a:xfrm>
          <a:prstGeom prst="rect">
            <a:avLst/>
          </a:prstGeom>
        </p:spPr>
        <p:txBody>
          <a:bodyPr vert="horz" wrap="square" lIns="0" tIns="12700" rIns="0" bIns="0" rtlCol="0">
            <a:spAutoFit/>
          </a:bodyPr>
          <a:lstStyle/>
          <a:p>
            <a:pPr algn="ctr">
              <a:lnSpc>
                <a:spcPct val="100000"/>
              </a:lnSpc>
              <a:spcBef>
                <a:spcPts val="100"/>
              </a:spcBef>
            </a:pPr>
            <a:r>
              <a:rPr sz="3900" spc="-350" dirty="0">
                <a:latin typeface="Arial Black"/>
                <a:cs typeface="Arial Black"/>
              </a:rPr>
              <a:t>TEAM</a:t>
            </a:r>
            <a:r>
              <a:rPr sz="3900" spc="-375" dirty="0">
                <a:latin typeface="Arial Black"/>
                <a:cs typeface="Arial Black"/>
              </a:rPr>
              <a:t> </a:t>
            </a:r>
            <a:r>
              <a:rPr sz="3900" spc="-25" dirty="0">
                <a:latin typeface="Arial Black"/>
                <a:cs typeface="Arial Black"/>
              </a:rPr>
              <a:t>ID:</a:t>
            </a:r>
            <a:r>
              <a:rPr lang="en-US" sz="3900" spc="-25" dirty="0">
                <a:latin typeface="Arial Black"/>
                <a:cs typeface="Arial Black"/>
              </a:rPr>
              <a:t>  QXHH-19</a:t>
            </a:r>
            <a:endParaRPr sz="3900" dirty="0">
              <a:latin typeface="Arial Black"/>
              <a:cs typeface="Arial Black"/>
            </a:endParaRPr>
          </a:p>
          <a:p>
            <a:pPr>
              <a:lnSpc>
                <a:spcPct val="100000"/>
              </a:lnSpc>
              <a:spcBef>
                <a:spcPts val="615"/>
              </a:spcBef>
            </a:pPr>
            <a:endParaRPr sz="3900" dirty="0">
              <a:latin typeface="Arial Black"/>
              <a:cs typeface="Arial Black"/>
            </a:endParaRPr>
          </a:p>
          <a:p>
            <a:pPr algn="ctr">
              <a:lnSpc>
                <a:spcPct val="100000"/>
              </a:lnSpc>
              <a:spcBef>
                <a:spcPts val="5"/>
              </a:spcBef>
            </a:pPr>
            <a:r>
              <a:rPr sz="3900" spc="-350" dirty="0">
                <a:latin typeface="Arial Black"/>
                <a:cs typeface="Arial Black"/>
              </a:rPr>
              <a:t>TEAM</a:t>
            </a:r>
            <a:r>
              <a:rPr sz="3900" spc="-375" dirty="0">
                <a:latin typeface="Arial Black"/>
                <a:cs typeface="Arial Black"/>
              </a:rPr>
              <a:t> </a:t>
            </a:r>
            <a:r>
              <a:rPr sz="3900" spc="-280" dirty="0">
                <a:latin typeface="Arial Black"/>
                <a:cs typeface="Arial Black"/>
              </a:rPr>
              <a:t>NAME:</a:t>
            </a:r>
            <a:r>
              <a:rPr lang="en-US" sz="3900" spc="-280" dirty="0">
                <a:latin typeface="Arial Black"/>
                <a:cs typeface="Arial Black"/>
              </a:rPr>
              <a:t> WOX BOT</a:t>
            </a:r>
            <a:endParaRPr sz="3900" dirty="0">
              <a:latin typeface="Arial Black"/>
              <a:cs typeface="Arial Black"/>
            </a:endParaRPr>
          </a:p>
        </p:txBody>
      </p:sp>
      <p:sp>
        <p:nvSpPr>
          <p:cNvPr id="9" name="object 9" descr="$PPTXTitle"/>
          <p:cNvSpPr txBox="1">
            <a:spLocks noGrp="1"/>
          </p:cNvSpPr>
          <p:nvPr>
            <p:ph type="title"/>
          </p:nvPr>
        </p:nvSpPr>
        <p:spPr>
          <a:xfrm>
            <a:off x="6022802" y="2827342"/>
            <a:ext cx="6186805" cy="2082800"/>
          </a:xfrm>
          <a:prstGeom prst="rect">
            <a:avLst/>
          </a:prstGeom>
        </p:spPr>
        <p:txBody>
          <a:bodyPr vert="horz" wrap="square" lIns="0" tIns="12700" rIns="0" bIns="0" rtlCol="0">
            <a:spAutoFit/>
          </a:bodyPr>
          <a:lstStyle/>
          <a:p>
            <a:pPr marL="2034539" marR="5080" indent="-2022475">
              <a:lnSpc>
                <a:spcPct val="115399"/>
              </a:lnSpc>
              <a:spcBef>
                <a:spcPts val="100"/>
              </a:spcBef>
            </a:pPr>
            <a:r>
              <a:rPr sz="3900" spc="-335" dirty="0"/>
              <a:t>HARDWARE</a:t>
            </a:r>
            <a:r>
              <a:rPr sz="3900" spc="-370" dirty="0"/>
              <a:t> </a:t>
            </a:r>
            <a:r>
              <a:rPr sz="3900" spc="-390" dirty="0"/>
              <a:t>HACKATHON </a:t>
            </a:r>
            <a:r>
              <a:rPr sz="3900" spc="-270" dirty="0"/>
              <a:t>ROUND</a:t>
            </a:r>
            <a:r>
              <a:rPr sz="3900" spc="-385" dirty="0"/>
              <a:t> </a:t>
            </a:r>
            <a:r>
              <a:rPr sz="3900" spc="-600" dirty="0"/>
              <a:t>1</a:t>
            </a:r>
            <a:endParaRPr sz="3900"/>
          </a:p>
          <a:p>
            <a:pPr marL="201295">
              <a:lnSpc>
                <a:spcPct val="100000"/>
              </a:lnSpc>
              <a:spcBef>
                <a:spcPts val="720"/>
              </a:spcBef>
            </a:pPr>
            <a:r>
              <a:rPr sz="3900" spc="-125" dirty="0"/>
              <a:t>-</a:t>
            </a:r>
            <a:r>
              <a:rPr sz="3900" spc="-415" dirty="0"/>
              <a:t>TITLE</a:t>
            </a:r>
            <a:r>
              <a:rPr sz="3900" spc="-380" dirty="0"/>
              <a:t> </a:t>
            </a:r>
            <a:r>
              <a:rPr sz="3900" spc="-300" dirty="0"/>
              <a:t>OF</a:t>
            </a:r>
            <a:r>
              <a:rPr sz="3900" spc="-375" dirty="0"/>
              <a:t> </a:t>
            </a:r>
            <a:r>
              <a:rPr sz="3900" spc="-380" dirty="0"/>
              <a:t>THE</a:t>
            </a:r>
            <a:r>
              <a:rPr sz="3900" spc="-375" dirty="0"/>
              <a:t> </a:t>
            </a:r>
            <a:r>
              <a:rPr sz="3900" spc="-370" dirty="0"/>
              <a:t>PROJECT-</a:t>
            </a:r>
            <a:endParaRPr sz="3900"/>
          </a:p>
        </p:txBody>
      </p:sp>
      <p:sp>
        <p:nvSpPr>
          <p:cNvPr id="10" name="object 10"/>
          <p:cNvSpPr txBox="1"/>
          <p:nvPr/>
        </p:nvSpPr>
        <p:spPr>
          <a:xfrm>
            <a:off x="5401073" y="8834183"/>
            <a:ext cx="7805420" cy="421640"/>
          </a:xfrm>
          <a:prstGeom prst="rect">
            <a:avLst/>
          </a:prstGeom>
        </p:spPr>
        <p:txBody>
          <a:bodyPr vert="horz" wrap="square" lIns="0" tIns="12700" rIns="0" bIns="0" rtlCol="0">
            <a:spAutoFit/>
          </a:bodyPr>
          <a:lstStyle/>
          <a:p>
            <a:pPr marL="12700">
              <a:lnSpc>
                <a:spcPct val="100000"/>
              </a:lnSpc>
              <a:spcBef>
                <a:spcPts val="100"/>
              </a:spcBef>
            </a:pPr>
            <a:r>
              <a:rPr sz="2600" spc="-229" dirty="0">
                <a:solidFill>
                  <a:srgbClr val="FFFFFF"/>
                </a:solidFill>
                <a:latin typeface="Arial Black"/>
                <a:cs typeface="Arial Black"/>
              </a:rPr>
              <a:t>NOTE: </a:t>
            </a:r>
            <a:r>
              <a:rPr sz="2600" spc="-250" dirty="0">
                <a:solidFill>
                  <a:srgbClr val="FFFFFF"/>
                </a:solidFill>
                <a:latin typeface="Arial Black"/>
                <a:cs typeface="Arial Black"/>
              </a:rPr>
              <a:t>PPT</a:t>
            </a:r>
            <a:r>
              <a:rPr sz="2600" spc="-225" dirty="0">
                <a:solidFill>
                  <a:srgbClr val="FFFFFF"/>
                </a:solidFill>
                <a:latin typeface="Arial Black"/>
                <a:cs typeface="Arial Black"/>
              </a:rPr>
              <a:t> </a:t>
            </a:r>
            <a:r>
              <a:rPr sz="2600" spc="-114" dirty="0">
                <a:solidFill>
                  <a:srgbClr val="FFFFFF"/>
                </a:solidFill>
                <a:latin typeface="Arial Black"/>
                <a:cs typeface="Arial Black"/>
              </a:rPr>
              <a:t>to</a:t>
            </a:r>
            <a:r>
              <a:rPr sz="2600" spc="-225" dirty="0">
                <a:solidFill>
                  <a:srgbClr val="FFFFFF"/>
                </a:solidFill>
                <a:latin typeface="Arial Black"/>
                <a:cs typeface="Arial Black"/>
              </a:rPr>
              <a:t> </a:t>
            </a:r>
            <a:r>
              <a:rPr sz="2600" spc="-160" dirty="0">
                <a:solidFill>
                  <a:srgbClr val="FFFFFF"/>
                </a:solidFill>
                <a:latin typeface="Arial Black"/>
                <a:cs typeface="Arial Black"/>
              </a:rPr>
              <a:t>be</a:t>
            </a:r>
            <a:r>
              <a:rPr sz="2600" spc="-225" dirty="0">
                <a:solidFill>
                  <a:srgbClr val="FFFFFF"/>
                </a:solidFill>
                <a:latin typeface="Arial Black"/>
                <a:cs typeface="Arial Black"/>
              </a:rPr>
              <a:t> </a:t>
            </a:r>
            <a:r>
              <a:rPr sz="2600" spc="-185" dirty="0">
                <a:solidFill>
                  <a:srgbClr val="FFFFFF"/>
                </a:solidFill>
                <a:latin typeface="Arial Black"/>
                <a:cs typeface="Arial Black"/>
              </a:rPr>
              <a:t>named</a:t>
            </a:r>
            <a:r>
              <a:rPr sz="2600" spc="-225" dirty="0">
                <a:solidFill>
                  <a:srgbClr val="FFFFFF"/>
                </a:solidFill>
                <a:latin typeface="Arial Black"/>
                <a:cs typeface="Arial Black"/>
              </a:rPr>
              <a:t> </a:t>
            </a:r>
            <a:r>
              <a:rPr sz="2600" spc="-180" dirty="0">
                <a:solidFill>
                  <a:srgbClr val="FFFFFF"/>
                </a:solidFill>
                <a:latin typeface="Arial Black"/>
                <a:cs typeface="Arial Black"/>
              </a:rPr>
              <a:t>as-</a:t>
            </a:r>
            <a:r>
              <a:rPr sz="2600" spc="-225" dirty="0">
                <a:solidFill>
                  <a:srgbClr val="FFFFFF"/>
                </a:solidFill>
                <a:latin typeface="Arial Black"/>
                <a:cs typeface="Arial Black"/>
              </a:rPr>
              <a:t> </a:t>
            </a:r>
            <a:r>
              <a:rPr sz="2600" spc="-150" dirty="0">
                <a:solidFill>
                  <a:srgbClr val="FFFFFF"/>
                </a:solidFill>
                <a:latin typeface="Arial Black"/>
                <a:cs typeface="Arial Black"/>
              </a:rPr>
              <a:t>“teamID_teamname”</a:t>
            </a:r>
            <a:endParaRPr sz="2600">
              <a:latin typeface="Arial Black"/>
              <a:cs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44550" y="2662436"/>
            <a:ext cx="16598900" cy="7239000"/>
          </a:xfrm>
          <a:custGeom>
            <a:avLst/>
            <a:gdLst/>
            <a:ahLst/>
            <a:cxnLst/>
            <a:rect l="l" t="t" r="r" b="b"/>
            <a:pathLst>
              <a:path w="16598900" h="7239000">
                <a:moveTo>
                  <a:pt x="15814334" y="7238821"/>
                </a:moveTo>
                <a:lnTo>
                  <a:pt x="790574" y="7238821"/>
                </a:lnTo>
                <a:lnTo>
                  <a:pt x="742415" y="7237379"/>
                </a:lnTo>
                <a:lnTo>
                  <a:pt x="695018" y="7233106"/>
                </a:lnTo>
                <a:lnTo>
                  <a:pt x="648468" y="7226085"/>
                </a:lnTo>
                <a:lnTo>
                  <a:pt x="602845" y="7216399"/>
                </a:lnTo>
                <a:lnTo>
                  <a:pt x="558234" y="7204130"/>
                </a:lnTo>
                <a:lnTo>
                  <a:pt x="514717" y="7189362"/>
                </a:lnTo>
                <a:lnTo>
                  <a:pt x="472377" y="7172176"/>
                </a:lnTo>
                <a:lnTo>
                  <a:pt x="431295" y="7152657"/>
                </a:lnTo>
                <a:lnTo>
                  <a:pt x="391556" y="7130885"/>
                </a:lnTo>
                <a:lnTo>
                  <a:pt x="353242" y="7106945"/>
                </a:lnTo>
                <a:lnTo>
                  <a:pt x="316434" y="7080918"/>
                </a:lnTo>
                <a:lnTo>
                  <a:pt x="281217" y="7052888"/>
                </a:lnTo>
                <a:lnTo>
                  <a:pt x="247673" y="7022938"/>
                </a:lnTo>
                <a:lnTo>
                  <a:pt x="215884" y="6991149"/>
                </a:lnTo>
                <a:lnTo>
                  <a:pt x="185933" y="6957604"/>
                </a:lnTo>
                <a:lnTo>
                  <a:pt x="157903" y="6922387"/>
                </a:lnTo>
                <a:lnTo>
                  <a:pt x="131876" y="6885580"/>
                </a:lnTo>
                <a:lnTo>
                  <a:pt x="107936" y="6847265"/>
                </a:lnTo>
                <a:lnTo>
                  <a:pt x="86165" y="6807526"/>
                </a:lnTo>
                <a:lnTo>
                  <a:pt x="66645" y="6766445"/>
                </a:lnTo>
                <a:lnTo>
                  <a:pt x="49460" y="6724104"/>
                </a:lnTo>
                <a:lnTo>
                  <a:pt x="34692" y="6680587"/>
                </a:lnTo>
                <a:lnTo>
                  <a:pt x="22423" y="6635976"/>
                </a:lnTo>
                <a:lnTo>
                  <a:pt x="12737" y="6590354"/>
                </a:lnTo>
                <a:lnTo>
                  <a:pt x="5716" y="6543803"/>
                </a:lnTo>
                <a:lnTo>
                  <a:pt x="1442" y="6496407"/>
                </a:lnTo>
                <a:lnTo>
                  <a:pt x="0" y="6448247"/>
                </a:lnTo>
                <a:lnTo>
                  <a:pt x="0" y="790574"/>
                </a:lnTo>
                <a:lnTo>
                  <a:pt x="1442" y="742415"/>
                </a:lnTo>
                <a:lnTo>
                  <a:pt x="5716" y="695018"/>
                </a:lnTo>
                <a:lnTo>
                  <a:pt x="12737" y="648468"/>
                </a:lnTo>
                <a:lnTo>
                  <a:pt x="22423" y="602845"/>
                </a:lnTo>
                <a:lnTo>
                  <a:pt x="34692" y="558234"/>
                </a:lnTo>
                <a:lnTo>
                  <a:pt x="49460" y="514717"/>
                </a:lnTo>
                <a:lnTo>
                  <a:pt x="66645" y="472377"/>
                </a:lnTo>
                <a:lnTo>
                  <a:pt x="86165" y="431295"/>
                </a:lnTo>
                <a:lnTo>
                  <a:pt x="107936" y="391556"/>
                </a:lnTo>
                <a:lnTo>
                  <a:pt x="131876" y="353242"/>
                </a:lnTo>
                <a:lnTo>
                  <a:pt x="157903" y="316434"/>
                </a:lnTo>
                <a:lnTo>
                  <a:pt x="185933" y="281217"/>
                </a:lnTo>
                <a:lnTo>
                  <a:pt x="215884" y="247673"/>
                </a:lnTo>
                <a:lnTo>
                  <a:pt x="247673" y="215884"/>
                </a:lnTo>
                <a:lnTo>
                  <a:pt x="281217" y="185933"/>
                </a:lnTo>
                <a:lnTo>
                  <a:pt x="316434" y="157903"/>
                </a:lnTo>
                <a:lnTo>
                  <a:pt x="353242" y="131876"/>
                </a:lnTo>
                <a:lnTo>
                  <a:pt x="391556" y="107936"/>
                </a:lnTo>
                <a:lnTo>
                  <a:pt x="431295" y="86165"/>
                </a:lnTo>
                <a:lnTo>
                  <a:pt x="472377" y="66645"/>
                </a:lnTo>
                <a:lnTo>
                  <a:pt x="514717" y="49460"/>
                </a:lnTo>
                <a:lnTo>
                  <a:pt x="558234" y="34692"/>
                </a:lnTo>
                <a:lnTo>
                  <a:pt x="602845" y="22423"/>
                </a:lnTo>
                <a:lnTo>
                  <a:pt x="648468" y="12737"/>
                </a:lnTo>
                <a:lnTo>
                  <a:pt x="695018" y="5716"/>
                </a:lnTo>
                <a:lnTo>
                  <a:pt x="742415" y="1442"/>
                </a:lnTo>
                <a:lnTo>
                  <a:pt x="790574" y="0"/>
                </a:lnTo>
                <a:lnTo>
                  <a:pt x="15814334" y="0"/>
                </a:lnTo>
                <a:lnTo>
                  <a:pt x="15862494" y="1442"/>
                </a:lnTo>
                <a:lnTo>
                  <a:pt x="15909890" y="5716"/>
                </a:lnTo>
                <a:lnTo>
                  <a:pt x="15956441" y="12737"/>
                </a:lnTo>
                <a:lnTo>
                  <a:pt x="16002063" y="22423"/>
                </a:lnTo>
                <a:lnTo>
                  <a:pt x="16046674" y="34692"/>
                </a:lnTo>
                <a:lnTo>
                  <a:pt x="16090191" y="49460"/>
                </a:lnTo>
                <a:lnTo>
                  <a:pt x="16132532" y="66645"/>
                </a:lnTo>
                <a:lnTo>
                  <a:pt x="16173613" y="86165"/>
                </a:lnTo>
                <a:lnTo>
                  <a:pt x="16213353" y="107936"/>
                </a:lnTo>
                <a:lnTo>
                  <a:pt x="16251667" y="131876"/>
                </a:lnTo>
                <a:lnTo>
                  <a:pt x="16288475" y="157903"/>
                </a:lnTo>
                <a:lnTo>
                  <a:pt x="16323692" y="185933"/>
                </a:lnTo>
                <a:lnTo>
                  <a:pt x="16357237" y="215884"/>
                </a:lnTo>
                <a:lnTo>
                  <a:pt x="16389026" y="247673"/>
                </a:lnTo>
                <a:lnTo>
                  <a:pt x="16418977" y="281217"/>
                </a:lnTo>
                <a:lnTo>
                  <a:pt x="16447007" y="316434"/>
                </a:lnTo>
                <a:lnTo>
                  <a:pt x="16473033" y="353242"/>
                </a:lnTo>
                <a:lnTo>
                  <a:pt x="16496973" y="391556"/>
                </a:lnTo>
                <a:lnTo>
                  <a:pt x="16518745" y="431295"/>
                </a:lnTo>
                <a:lnTo>
                  <a:pt x="16538264" y="472377"/>
                </a:lnTo>
                <a:lnTo>
                  <a:pt x="16555450" y="514717"/>
                </a:lnTo>
                <a:lnTo>
                  <a:pt x="16570218" y="558234"/>
                </a:lnTo>
                <a:lnTo>
                  <a:pt x="16582487" y="602845"/>
                </a:lnTo>
                <a:lnTo>
                  <a:pt x="16592173" y="648468"/>
                </a:lnTo>
                <a:lnTo>
                  <a:pt x="16598392" y="689698"/>
                </a:lnTo>
                <a:lnTo>
                  <a:pt x="16598392" y="6549123"/>
                </a:lnTo>
                <a:lnTo>
                  <a:pt x="16592173" y="6590354"/>
                </a:lnTo>
                <a:lnTo>
                  <a:pt x="16582487" y="6635976"/>
                </a:lnTo>
                <a:lnTo>
                  <a:pt x="16570218" y="6680587"/>
                </a:lnTo>
                <a:lnTo>
                  <a:pt x="16555450" y="6724104"/>
                </a:lnTo>
                <a:lnTo>
                  <a:pt x="16538264" y="6766445"/>
                </a:lnTo>
                <a:lnTo>
                  <a:pt x="16518745" y="6807526"/>
                </a:lnTo>
                <a:lnTo>
                  <a:pt x="16496973" y="6847265"/>
                </a:lnTo>
                <a:lnTo>
                  <a:pt x="16473033" y="6885580"/>
                </a:lnTo>
                <a:lnTo>
                  <a:pt x="16447007" y="6922387"/>
                </a:lnTo>
                <a:lnTo>
                  <a:pt x="16418977" y="6957604"/>
                </a:lnTo>
                <a:lnTo>
                  <a:pt x="16389026" y="6991149"/>
                </a:lnTo>
                <a:lnTo>
                  <a:pt x="16357237" y="7022938"/>
                </a:lnTo>
                <a:lnTo>
                  <a:pt x="16323692" y="7052888"/>
                </a:lnTo>
                <a:lnTo>
                  <a:pt x="16288475" y="7080918"/>
                </a:lnTo>
                <a:lnTo>
                  <a:pt x="16251667" y="7106945"/>
                </a:lnTo>
                <a:lnTo>
                  <a:pt x="16213353" y="7130885"/>
                </a:lnTo>
                <a:lnTo>
                  <a:pt x="16173613" y="7152657"/>
                </a:lnTo>
                <a:lnTo>
                  <a:pt x="16132532" y="7172176"/>
                </a:lnTo>
                <a:lnTo>
                  <a:pt x="16090191" y="7189362"/>
                </a:lnTo>
                <a:lnTo>
                  <a:pt x="16046674" y="7204130"/>
                </a:lnTo>
                <a:lnTo>
                  <a:pt x="16002063" y="7216399"/>
                </a:lnTo>
                <a:lnTo>
                  <a:pt x="15956441" y="7226085"/>
                </a:lnTo>
                <a:lnTo>
                  <a:pt x="15909890" y="7233106"/>
                </a:lnTo>
                <a:lnTo>
                  <a:pt x="15862494" y="7237379"/>
                </a:lnTo>
                <a:lnTo>
                  <a:pt x="15814334" y="7238821"/>
                </a:lnTo>
                <a:close/>
              </a:path>
            </a:pathLst>
          </a:custGeom>
          <a:solidFill>
            <a:srgbClr val="99ACB5">
              <a:alpha val="79998"/>
            </a:srgbClr>
          </a:solidFill>
        </p:spPr>
        <p:txBody>
          <a:bodyPr wrap="square" lIns="0" tIns="0" rIns="0" bIns="0" rtlCol="0"/>
          <a:lstStyle/>
          <a:p>
            <a:endParaRPr dirty="0"/>
          </a:p>
        </p:txBody>
      </p:sp>
      <p:grpSp>
        <p:nvGrpSpPr>
          <p:cNvPr id="3" name="object 3"/>
          <p:cNvGrpSpPr/>
          <p:nvPr/>
        </p:nvGrpSpPr>
        <p:grpSpPr>
          <a:xfrm>
            <a:off x="1028700" y="168106"/>
            <a:ext cx="9351010" cy="1952625"/>
            <a:chOff x="1028700" y="168106"/>
            <a:chExt cx="9351010" cy="1952625"/>
          </a:xfrm>
        </p:grpSpPr>
        <p:pic>
          <p:nvPicPr>
            <p:cNvPr id="4" name="object 4"/>
            <p:cNvPicPr/>
            <p:nvPr/>
          </p:nvPicPr>
          <p:blipFill>
            <a:blip r:embed="rId2" cstate="print"/>
            <a:stretch>
              <a:fillRect/>
            </a:stretch>
          </p:blipFill>
          <p:spPr>
            <a:xfrm>
              <a:off x="6188118" y="168106"/>
              <a:ext cx="4190999" cy="1952624"/>
            </a:xfrm>
            <a:prstGeom prst="rect">
              <a:avLst/>
            </a:prstGeom>
          </p:spPr>
        </p:pic>
        <p:pic>
          <p:nvPicPr>
            <p:cNvPr id="5" name="object 5"/>
            <p:cNvPicPr/>
            <p:nvPr/>
          </p:nvPicPr>
          <p:blipFill>
            <a:blip r:embed="rId3" cstate="print"/>
            <a:stretch>
              <a:fillRect/>
            </a:stretch>
          </p:blipFill>
          <p:spPr>
            <a:xfrm>
              <a:off x="1028700" y="709812"/>
              <a:ext cx="5162549" cy="1057274"/>
            </a:xfrm>
            <a:prstGeom prst="rect">
              <a:avLst/>
            </a:prstGeom>
          </p:spPr>
        </p:pic>
      </p:grpSp>
      <p:pic>
        <p:nvPicPr>
          <p:cNvPr id="6" name="object 6"/>
          <p:cNvPicPr/>
          <p:nvPr/>
        </p:nvPicPr>
        <p:blipFill>
          <a:blip r:embed="rId4" cstate="print"/>
          <a:stretch>
            <a:fillRect/>
          </a:stretch>
        </p:blipFill>
        <p:spPr>
          <a:xfrm>
            <a:off x="10830856" y="168106"/>
            <a:ext cx="3152774" cy="2162174"/>
          </a:xfrm>
          <a:prstGeom prst="rect">
            <a:avLst/>
          </a:prstGeom>
        </p:spPr>
      </p:pic>
      <p:pic>
        <p:nvPicPr>
          <p:cNvPr id="7" name="object 7"/>
          <p:cNvPicPr/>
          <p:nvPr/>
        </p:nvPicPr>
        <p:blipFill>
          <a:blip r:embed="rId5" cstate="print"/>
          <a:stretch>
            <a:fillRect/>
          </a:stretch>
        </p:blipFill>
        <p:spPr>
          <a:xfrm>
            <a:off x="14437921" y="0"/>
            <a:ext cx="2562224" cy="2521586"/>
          </a:xfrm>
          <a:prstGeom prst="rect">
            <a:avLst/>
          </a:prstGeom>
        </p:spPr>
      </p:pic>
      <p:pic>
        <p:nvPicPr>
          <p:cNvPr id="8" name="object 8"/>
          <p:cNvPicPr/>
          <p:nvPr/>
        </p:nvPicPr>
        <p:blipFill>
          <a:blip r:embed="rId6" cstate="print"/>
          <a:stretch>
            <a:fillRect/>
          </a:stretch>
        </p:blipFill>
        <p:spPr>
          <a:xfrm>
            <a:off x="1513325" y="4491078"/>
            <a:ext cx="102931" cy="102931"/>
          </a:xfrm>
          <a:prstGeom prst="rect">
            <a:avLst/>
          </a:prstGeom>
        </p:spPr>
      </p:pic>
      <p:pic>
        <p:nvPicPr>
          <p:cNvPr id="9" name="object 9"/>
          <p:cNvPicPr/>
          <p:nvPr/>
        </p:nvPicPr>
        <p:blipFill>
          <a:blip r:embed="rId6" cstate="print"/>
          <a:stretch>
            <a:fillRect/>
          </a:stretch>
        </p:blipFill>
        <p:spPr>
          <a:xfrm>
            <a:off x="1513325" y="4891366"/>
            <a:ext cx="102931" cy="102931"/>
          </a:xfrm>
          <a:prstGeom prst="rect">
            <a:avLst/>
          </a:prstGeom>
        </p:spPr>
      </p:pic>
      <p:pic>
        <p:nvPicPr>
          <p:cNvPr id="10" name="object 10"/>
          <p:cNvPicPr/>
          <p:nvPr/>
        </p:nvPicPr>
        <p:blipFill>
          <a:blip r:embed="rId6" cstate="print"/>
          <a:stretch>
            <a:fillRect/>
          </a:stretch>
        </p:blipFill>
        <p:spPr>
          <a:xfrm>
            <a:off x="1513325" y="5291654"/>
            <a:ext cx="102931" cy="102931"/>
          </a:xfrm>
          <a:prstGeom prst="rect">
            <a:avLst/>
          </a:prstGeom>
        </p:spPr>
      </p:pic>
      <p:sp>
        <p:nvSpPr>
          <p:cNvPr id="11" name="object 11"/>
          <p:cNvSpPr txBox="1"/>
          <p:nvPr/>
        </p:nvSpPr>
        <p:spPr>
          <a:xfrm>
            <a:off x="1775822" y="4284708"/>
            <a:ext cx="14911977" cy="6202660"/>
          </a:xfrm>
          <a:prstGeom prst="rect">
            <a:avLst/>
          </a:prstGeom>
        </p:spPr>
        <p:txBody>
          <a:bodyPr vert="horz" wrap="square" lIns="0" tIns="12065" rIns="0" bIns="0" rtlCol="0">
            <a:spAutoFit/>
          </a:bodyPr>
          <a:lstStyle/>
          <a:p>
            <a:pPr marL="355600" marR="555625" indent="-342900">
              <a:lnSpc>
                <a:spcPct val="116700"/>
              </a:lnSpc>
              <a:spcBef>
                <a:spcPts val="95"/>
              </a:spcBef>
              <a:buFont typeface="Arial" panose="020B0604020202020204" pitchFamily="34" charset="0"/>
              <a:buChar char="•"/>
            </a:pPr>
            <a:r>
              <a:rPr lang="en-US" sz="2400" b="1" u="sng" spc="-55" dirty="0">
                <a:latin typeface="Verdana"/>
                <a:cs typeface="Verdana"/>
              </a:rPr>
              <a:t>PROBLEM</a:t>
            </a:r>
          </a:p>
          <a:p>
            <a:pPr marL="355600" marR="555625" indent="-342900">
              <a:lnSpc>
                <a:spcPct val="116700"/>
              </a:lnSpc>
              <a:spcBef>
                <a:spcPts val="95"/>
              </a:spcBef>
              <a:buFont typeface="Arial" panose="020B0604020202020204" pitchFamily="34" charset="0"/>
              <a:buChar char="•"/>
            </a:pPr>
            <a:r>
              <a:rPr lang="en-US" sz="2250" spc="-55" dirty="0">
                <a:latin typeface="Verdana"/>
                <a:cs typeface="Verdana"/>
              </a:rPr>
              <a:t>In hospitals, communication delays between patient rooms and the pharmacy lead to slower response times, especially during emergencies. Manual handling of medicine requests increases workload and chances of errors. Small hospitals lack affordable automation solutions</a:t>
            </a:r>
          </a:p>
          <a:p>
            <a:pPr marL="355600" marR="555625" indent="-342900">
              <a:lnSpc>
                <a:spcPct val="116700"/>
              </a:lnSpc>
              <a:spcBef>
                <a:spcPts val="95"/>
              </a:spcBef>
              <a:buFont typeface="Arial" panose="020B0604020202020204" pitchFamily="34" charset="0"/>
              <a:buChar char="•"/>
            </a:pPr>
            <a:endParaRPr lang="en-US" sz="2250" spc="-55" dirty="0">
              <a:latin typeface="Verdana"/>
              <a:cs typeface="Verdana"/>
            </a:endParaRPr>
          </a:p>
          <a:p>
            <a:pPr marL="355600" marR="555625" indent="-342900">
              <a:lnSpc>
                <a:spcPct val="116700"/>
              </a:lnSpc>
              <a:spcBef>
                <a:spcPts val="95"/>
              </a:spcBef>
              <a:buFont typeface="Arial" panose="020B0604020202020204" pitchFamily="34" charset="0"/>
              <a:buChar char="•"/>
            </a:pPr>
            <a:r>
              <a:rPr lang="en-US" sz="2400" b="1" u="sng" spc="-55" dirty="0">
                <a:latin typeface="Verdana"/>
                <a:cs typeface="Verdana"/>
              </a:rPr>
              <a:t>PROPOSED SOLUTION</a:t>
            </a:r>
          </a:p>
          <a:p>
            <a:pPr marL="355600" marR="555625" indent="-342900">
              <a:lnSpc>
                <a:spcPct val="116700"/>
              </a:lnSpc>
              <a:spcBef>
                <a:spcPts val="95"/>
              </a:spcBef>
              <a:buFont typeface="Arial" panose="020B0604020202020204" pitchFamily="34" charset="0"/>
              <a:buChar char="•"/>
            </a:pPr>
            <a:r>
              <a:rPr lang="en-US" sz="2250" spc="-55" dirty="0">
                <a:latin typeface="Verdana"/>
                <a:cs typeface="Verdana"/>
              </a:rPr>
              <a:t>We propose WOX BOT, a low-cost autonomous robot that navigates hospital wards using line-following, detects medicine requests using sensors, counts them automatically, and communicates the data to the pharmacy efficiently.</a:t>
            </a:r>
          </a:p>
          <a:p>
            <a:pPr marL="355600" marR="555625" indent="-342900">
              <a:lnSpc>
                <a:spcPct val="116700"/>
              </a:lnSpc>
              <a:spcBef>
                <a:spcPts val="95"/>
              </a:spcBef>
              <a:buFont typeface="Arial" panose="020B0604020202020204" pitchFamily="34" charset="0"/>
              <a:buChar char="•"/>
            </a:pPr>
            <a:endParaRPr lang="en-US" sz="2250" spc="-55" dirty="0">
              <a:latin typeface="Verdana"/>
              <a:cs typeface="Verdana"/>
            </a:endParaRPr>
          </a:p>
          <a:p>
            <a:pPr marL="355600" marR="555625" indent="-342900">
              <a:lnSpc>
                <a:spcPct val="116700"/>
              </a:lnSpc>
              <a:spcBef>
                <a:spcPts val="95"/>
              </a:spcBef>
              <a:buFont typeface="Arial" panose="020B0604020202020204" pitchFamily="34" charset="0"/>
              <a:buChar char="•"/>
            </a:pPr>
            <a:r>
              <a:rPr lang="en-US" sz="2250" spc="-55" dirty="0">
                <a:latin typeface="Verdana"/>
                <a:cs typeface="Verdana"/>
              </a:rPr>
              <a:t>Combines line following + request detection + counting system</a:t>
            </a:r>
          </a:p>
          <a:p>
            <a:pPr marL="355600" marR="555625" indent="-342900">
              <a:lnSpc>
                <a:spcPct val="116700"/>
              </a:lnSpc>
              <a:spcBef>
                <a:spcPts val="95"/>
              </a:spcBef>
              <a:buFont typeface="Arial" panose="020B0604020202020204" pitchFamily="34" charset="0"/>
              <a:buChar char="•"/>
            </a:pPr>
            <a:r>
              <a:rPr lang="en-US" sz="2250" spc="-55" dirty="0">
                <a:latin typeface="Verdana"/>
                <a:cs typeface="Verdana"/>
              </a:rPr>
              <a:t>Uses real-time wireless communication (ESP8266)</a:t>
            </a:r>
          </a:p>
          <a:p>
            <a:pPr marL="355600" marR="555625" indent="-342900">
              <a:lnSpc>
                <a:spcPct val="116700"/>
              </a:lnSpc>
              <a:spcBef>
                <a:spcPts val="95"/>
              </a:spcBef>
              <a:buFont typeface="Arial" panose="020B0604020202020204" pitchFamily="34" charset="0"/>
              <a:buChar char="•"/>
            </a:pPr>
            <a:r>
              <a:rPr lang="en-US" sz="2250" spc="-55" dirty="0">
                <a:latin typeface="Verdana"/>
                <a:cs typeface="Verdana"/>
              </a:rPr>
              <a:t>Provides low-cost automation for small hospitals</a:t>
            </a:r>
          </a:p>
          <a:p>
            <a:pPr marL="355600" marR="555625" indent="-342900">
              <a:lnSpc>
                <a:spcPct val="116700"/>
              </a:lnSpc>
              <a:spcBef>
                <a:spcPts val="95"/>
              </a:spcBef>
              <a:buFont typeface="Arial" panose="020B0604020202020204" pitchFamily="34" charset="0"/>
              <a:buChar char="•"/>
            </a:pPr>
            <a:r>
              <a:rPr lang="en-US" sz="2250" spc="-55" dirty="0">
                <a:latin typeface="Verdana"/>
                <a:cs typeface="Verdana"/>
              </a:rPr>
              <a:t>Includes visual/audio reporting (LED &amp; buzzer)</a:t>
            </a:r>
          </a:p>
          <a:p>
            <a:pPr marL="355600" marR="555625" indent="-342900">
              <a:lnSpc>
                <a:spcPct val="116700"/>
              </a:lnSpc>
              <a:spcBef>
                <a:spcPts val="95"/>
              </a:spcBef>
              <a:buFont typeface="Arial" panose="020B0604020202020204" pitchFamily="34" charset="0"/>
              <a:buChar char="•"/>
            </a:pPr>
            <a:r>
              <a:rPr lang="en-US" sz="2250" spc="-55" dirty="0">
                <a:latin typeface="Verdana"/>
                <a:cs typeface="Verdana"/>
              </a:rPr>
              <a:t>Reduces human effort and improves response speed</a:t>
            </a:r>
          </a:p>
        </p:txBody>
      </p:sp>
      <p:sp>
        <p:nvSpPr>
          <p:cNvPr id="12" name="object 1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200" spc="-350" dirty="0"/>
              <a:t>PROBLEM</a:t>
            </a:r>
            <a:r>
              <a:rPr sz="4200" spc="-395" dirty="0"/>
              <a:t> </a:t>
            </a:r>
            <a:r>
              <a:rPr sz="4200" spc="-360" dirty="0"/>
              <a:t>UNDERSTANDING</a:t>
            </a:r>
            <a:r>
              <a:rPr sz="4200" spc="-390" dirty="0"/>
              <a:t> </a:t>
            </a:r>
            <a:r>
              <a:rPr sz="4200" spc="-975" dirty="0"/>
              <a:t>&amp;</a:t>
            </a:r>
            <a:r>
              <a:rPr sz="4200" spc="-390" dirty="0"/>
              <a:t> </a:t>
            </a:r>
            <a:r>
              <a:rPr sz="4200" spc="-335" dirty="0"/>
              <a:t>PROPOSED</a:t>
            </a:r>
            <a:r>
              <a:rPr sz="4200" spc="-395" dirty="0"/>
              <a:t> </a:t>
            </a:r>
            <a:r>
              <a:rPr sz="4200" spc="-325" dirty="0"/>
              <a:t>IDEA</a:t>
            </a:r>
            <a:endParaRPr sz="4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8520" y="2521368"/>
            <a:ext cx="16598900" cy="7239000"/>
          </a:xfrm>
          <a:custGeom>
            <a:avLst/>
            <a:gdLst/>
            <a:ahLst/>
            <a:cxnLst/>
            <a:rect l="l" t="t" r="r" b="b"/>
            <a:pathLst>
              <a:path w="16598900" h="7239000">
                <a:moveTo>
                  <a:pt x="15814334" y="7238821"/>
                </a:moveTo>
                <a:lnTo>
                  <a:pt x="790574" y="7238821"/>
                </a:lnTo>
                <a:lnTo>
                  <a:pt x="742415" y="7237379"/>
                </a:lnTo>
                <a:lnTo>
                  <a:pt x="695018" y="7233106"/>
                </a:lnTo>
                <a:lnTo>
                  <a:pt x="648468" y="7226085"/>
                </a:lnTo>
                <a:lnTo>
                  <a:pt x="602845" y="7216399"/>
                </a:lnTo>
                <a:lnTo>
                  <a:pt x="558234" y="7204130"/>
                </a:lnTo>
                <a:lnTo>
                  <a:pt x="514717" y="7189362"/>
                </a:lnTo>
                <a:lnTo>
                  <a:pt x="472377" y="7172176"/>
                </a:lnTo>
                <a:lnTo>
                  <a:pt x="431295" y="7152657"/>
                </a:lnTo>
                <a:lnTo>
                  <a:pt x="391556" y="7130885"/>
                </a:lnTo>
                <a:lnTo>
                  <a:pt x="353242" y="7106945"/>
                </a:lnTo>
                <a:lnTo>
                  <a:pt x="316434" y="7080918"/>
                </a:lnTo>
                <a:lnTo>
                  <a:pt x="281217" y="7052888"/>
                </a:lnTo>
                <a:lnTo>
                  <a:pt x="247673" y="7022938"/>
                </a:lnTo>
                <a:lnTo>
                  <a:pt x="215884" y="6991149"/>
                </a:lnTo>
                <a:lnTo>
                  <a:pt x="185933" y="6957604"/>
                </a:lnTo>
                <a:lnTo>
                  <a:pt x="157903" y="6922387"/>
                </a:lnTo>
                <a:lnTo>
                  <a:pt x="131876" y="6885580"/>
                </a:lnTo>
                <a:lnTo>
                  <a:pt x="107936" y="6847265"/>
                </a:lnTo>
                <a:lnTo>
                  <a:pt x="86165" y="6807526"/>
                </a:lnTo>
                <a:lnTo>
                  <a:pt x="66645" y="6766445"/>
                </a:lnTo>
                <a:lnTo>
                  <a:pt x="49460" y="6724104"/>
                </a:lnTo>
                <a:lnTo>
                  <a:pt x="34692" y="6680587"/>
                </a:lnTo>
                <a:lnTo>
                  <a:pt x="22423" y="6635976"/>
                </a:lnTo>
                <a:lnTo>
                  <a:pt x="12737" y="6590354"/>
                </a:lnTo>
                <a:lnTo>
                  <a:pt x="5716" y="6543803"/>
                </a:lnTo>
                <a:lnTo>
                  <a:pt x="1442" y="6496407"/>
                </a:lnTo>
                <a:lnTo>
                  <a:pt x="0" y="6448247"/>
                </a:lnTo>
                <a:lnTo>
                  <a:pt x="0" y="790574"/>
                </a:lnTo>
                <a:lnTo>
                  <a:pt x="1442" y="742415"/>
                </a:lnTo>
                <a:lnTo>
                  <a:pt x="5716" y="695018"/>
                </a:lnTo>
                <a:lnTo>
                  <a:pt x="12737" y="648468"/>
                </a:lnTo>
                <a:lnTo>
                  <a:pt x="22423" y="602845"/>
                </a:lnTo>
                <a:lnTo>
                  <a:pt x="34692" y="558234"/>
                </a:lnTo>
                <a:lnTo>
                  <a:pt x="49460" y="514717"/>
                </a:lnTo>
                <a:lnTo>
                  <a:pt x="66645" y="472377"/>
                </a:lnTo>
                <a:lnTo>
                  <a:pt x="86165" y="431295"/>
                </a:lnTo>
                <a:lnTo>
                  <a:pt x="107936" y="391556"/>
                </a:lnTo>
                <a:lnTo>
                  <a:pt x="131876" y="353242"/>
                </a:lnTo>
                <a:lnTo>
                  <a:pt x="157903" y="316434"/>
                </a:lnTo>
                <a:lnTo>
                  <a:pt x="185933" y="281217"/>
                </a:lnTo>
                <a:lnTo>
                  <a:pt x="215884" y="247673"/>
                </a:lnTo>
                <a:lnTo>
                  <a:pt x="247673" y="215884"/>
                </a:lnTo>
                <a:lnTo>
                  <a:pt x="281217" y="185933"/>
                </a:lnTo>
                <a:lnTo>
                  <a:pt x="316434" y="157903"/>
                </a:lnTo>
                <a:lnTo>
                  <a:pt x="353242" y="131876"/>
                </a:lnTo>
                <a:lnTo>
                  <a:pt x="391556" y="107936"/>
                </a:lnTo>
                <a:lnTo>
                  <a:pt x="431295" y="86165"/>
                </a:lnTo>
                <a:lnTo>
                  <a:pt x="472377" y="66645"/>
                </a:lnTo>
                <a:lnTo>
                  <a:pt x="514717" y="49460"/>
                </a:lnTo>
                <a:lnTo>
                  <a:pt x="558234" y="34692"/>
                </a:lnTo>
                <a:lnTo>
                  <a:pt x="602845" y="22423"/>
                </a:lnTo>
                <a:lnTo>
                  <a:pt x="648468" y="12737"/>
                </a:lnTo>
                <a:lnTo>
                  <a:pt x="695018" y="5716"/>
                </a:lnTo>
                <a:lnTo>
                  <a:pt x="742415" y="1442"/>
                </a:lnTo>
                <a:lnTo>
                  <a:pt x="790574" y="0"/>
                </a:lnTo>
                <a:lnTo>
                  <a:pt x="15814334" y="0"/>
                </a:lnTo>
                <a:lnTo>
                  <a:pt x="15862494" y="1442"/>
                </a:lnTo>
                <a:lnTo>
                  <a:pt x="15909890" y="5716"/>
                </a:lnTo>
                <a:lnTo>
                  <a:pt x="15956441" y="12737"/>
                </a:lnTo>
                <a:lnTo>
                  <a:pt x="16002063" y="22423"/>
                </a:lnTo>
                <a:lnTo>
                  <a:pt x="16046674" y="34692"/>
                </a:lnTo>
                <a:lnTo>
                  <a:pt x="16090191" y="49460"/>
                </a:lnTo>
                <a:lnTo>
                  <a:pt x="16132532" y="66645"/>
                </a:lnTo>
                <a:lnTo>
                  <a:pt x="16173613" y="86165"/>
                </a:lnTo>
                <a:lnTo>
                  <a:pt x="16213353" y="107936"/>
                </a:lnTo>
                <a:lnTo>
                  <a:pt x="16251667" y="131876"/>
                </a:lnTo>
                <a:lnTo>
                  <a:pt x="16288475" y="157903"/>
                </a:lnTo>
                <a:lnTo>
                  <a:pt x="16323692" y="185933"/>
                </a:lnTo>
                <a:lnTo>
                  <a:pt x="16357237" y="215884"/>
                </a:lnTo>
                <a:lnTo>
                  <a:pt x="16389026" y="247673"/>
                </a:lnTo>
                <a:lnTo>
                  <a:pt x="16418977" y="281217"/>
                </a:lnTo>
                <a:lnTo>
                  <a:pt x="16447007" y="316434"/>
                </a:lnTo>
                <a:lnTo>
                  <a:pt x="16473033" y="353242"/>
                </a:lnTo>
                <a:lnTo>
                  <a:pt x="16496973" y="391556"/>
                </a:lnTo>
                <a:lnTo>
                  <a:pt x="16518745" y="431295"/>
                </a:lnTo>
                <a:lnTo>
                  <a:pt x="16538264" y="472377"/>
                </a:lnTo>
                <a:lnTo>
                  <a:pt x="16555450" y="514717"/>
                </a:lnTo>
                <a:lnTo>
                  <a:pt x="16570218" y="558234"/>
                </a:lnTo>
                <a:lnTo>
                  <a:pt x="16582487" y="602845"/>
                </a:lnTo>
                <a:lnTo>
                  <a:pt x="16592173" y="648468"/>
                </a:lnTo>
                <a:lnTo>
                  <a:pt x="16598392" y="689698"/>
                </a:lnTo>
                <a:lnTo>
                  <a:pt x="16598392" y="6549123"/>
                </a:lnTo>
                <a:lnTo>
                  <a:pt x="16592173" y="6590354"/>
                </a:lnTo>
                <a:lnTo>
                  <a:pt x="16582487" y="6635976"/>
                </a:lnTo>
                <a:lnTo>
                  <a:pt x="16570218" y="6680587"/>
                </a:lnTo>
                <a:lnTo>
                  <a:pt x="16555450" y="6724104"/>
                </a:lnTo>
                <a:lnTo>
                  <a:pt x="16538264" y="6766445"/>
                </a:lnTo>
                <a:lnTo>
                  <a:pt x="16518745" y="6807526"/>
                </a:lnTo>
                <a:lnTo>
                  <a:pt x="16496973" y="6847265"/>
                </a:lnTo>
                <a:lnTo>
                  <a:pt x="16473033" y="6885580"/>
                </a:lnTo>
                <a:lnTo>
                  <a:pt x="16447007" y="6922387"/>
                </a:lnTo>
                <a:lnTo>
                  <a:pt x="16418977" y="6957604"/>
                </a:lnTo>
                <a:lnTo>
                  <a:pt x="16389026" y="6991149"/>
                </a:lnTo>
                <a:lnTo>
                  <a:pt x="16357237" y="7022938"/>
                </a:lnTo>
                <a:lnTo>
                  <a:pt x="16323692" y="7052888"/>
                </a:lnTo>
                <a:lnTo>
                  <a:pt x="16288475" y="7080918"/>
                </a:lnTo>
                <a:lnTo>
                  <a:pt x="16251667" y="7106945"/>
                </a:lnTo>
                <a:lnTo>
                  <a:pt x="16213353" y="7130885"/>
                </a:lnTo>
                <a:lnTo>
                  <a:pt x="16173613" y="7152657"/>
                </a:lnTo>
                <a:lnTo>
                  <a:pt x="16132532" y="7172176"/>
                </a:lnTo>
                <a:lnTo>
                  <a:pt x="16090191" y="7189362"/>
                </a:lnTo>
                <a:lnTo>
                  <a:pt x="16046674" y="7204130"/>
                </a:lnTo>
                <a:lnTo>
                  <a:pt x="16002063" y="7216399"/>
                </a:lnTo>
                <a:lnTo>
                  <a:pt x="15956441" y="7226085"/>
                </a:lnTo>
                <a:lnTo>
                  <a:pt x="15909890" y="7233106"/>
                </a:lnTo>
                <a:lnTo>
                  <a:pt x="15862494" y="7237379"/>
                </a:lnTo>
                <a:lnTo>
                  <a:pt x="15814334" y="7238821"/>
                </a:lnTo>
                <a:close/>
              </a:path>
            </a:pathLst>
          </a:custGeom>
          <a:solidFill>
            <a:srgbClr val="99ACB5">
              <a:alpha val="79998"/>
            </a:srgbClr>
          </a:solidFill>
        </p:spPr>
        <p:txBody>
          <a:bodyPr wrap="square" lIns="0" tIns="0" rIns="0" bIns="0" rtlCol="0"/>
          <a:lstStyle/>
          <a:p>
            <a:endParaRPr/>
          </a:p>
        </p:txBody>
      </p:sp>
      <p:grpSp>
        <p:nvGrpSpPr>
          <p:cNvPr id="3" name="object 3"/>
          <p:cNvGrpSpPr/>
          <p:nvPr/>
        </p:nvGrpSpPr>
        <p:grpSpPr>
          <a:xfrm>
            <a:off x="1028700" y="116279"/>
            <a:ext cx="9293860" cy="1924050"/>
            <a:chOff x="1028700" y="116279"/>
            <a:chExt cx="9293860" cy="1924050"/>
          </a:xfrm>
        </p:grpSpPr>
        <p:pic>
          <p:nvPicPr>
            <p:cNvPr id="4" name="object 4"/>
            <p:cNvPicPr/>
            <p:nvPr/>
          </p:nvPicPr>
          <p:blipFill>
            <a:blip r:embed="rId2" cstate="print"/>
            <a:stretch>
              <a:fillRect/>
            </a:stretch>
          </p:blipFill>
          <p:spPr>
            <a:xfrm>
              <a:off x="6188118" y="116279"/>
              <a:ext cx="4133849" cy="1924049"/>
            </a:xfrm>
            <a:prstGeom prst="rect">
              <a:avLst/>
            </a:prstGeom>
          </p:spPr>
        </p:pic>
        <p:pic>
          <p:nvPicPr>
            <p:cNvPr id="5" name="object 5"/>
            <p:cNvPicPr/>
            <p:nvPr/>
          </p:nvPicPr>
          <p:blipFill>
            <a:blip r:embed="rId3" cstate="print"/>
            <a:stretch>
              <a:fillRect/>
            </a:stretch>
          </p:blipFill>
          <p:spPr>
            <a:xfrm>
              <a:off x="1028700" y="778270"/>
              <a:ext cx="5162549" cy="1057274"/>
            </a:xfrm>
            <a:prstGeom prst="rect">
              <a:avLst/>
            </a:prstGeom>
          </p:spPr>
        </p:pic>
      </p:grpSp>
      <p:pic>
        <p:nvPicPr>
          <p:cNvPr id="6" name="object 6"/>
          <p:cNvPicPr/>
          <p:nvPr/>
        </p:nvPicPr>
        <p:blipFill>
          <a:blip r:embed="rId4" cstate="print"/>
          <a:stretch>
            <a:fillRect/>
          </a:stretch>
        </p:blipFill>
        <p:spPr>
          <a:xfrm>
            <a:off x="10734771" y="247265"/>
            <a:ext cx="3152774" cy="2162174"/>
          </a:xfrm>
          <a:prstGeom prst="rect">
            <a:avLst/>
          </a:prstGeom>
        </p:spPr>
      </p:pic>
      <p:pic>
        <p:nvPicPr>
          <p:cNvPr id="7" name="object 7"/>
          <p:cNvPicPr/>
          <p:nvPr/>
        </p:nvPicPr>
        <p:blipFill>
          <a:blip r:embed="rId5" cstate="print"/>
          <a:stretch>
            <a:fillRect/>
          </a:stretch>
        </p:blipFill>
        <p:spPr>
          <a:xfrm>
            <a:off x="14063084" y="0"/>
            <a:ext cx="2666999" cy="2524534"/>
          </a:xfrm>
          <a:prstGeom prst="rect">
            <a:avLst/>
          </a:prstGeom>
        </p:spPr>
      </p:pic>
      <p:sp>
        <p:nvSpPr>
          <p:cNvPr id="10" name="object 10"/>
          <p:cNvSpPr txBox="1"/>
          <p:nvPr/>
        </p:nvSpPr>
        <p:spPr>
          <a:xfrm>
            <a:off x="1688845" y="3005574"/>
            <a:ext cx="17665955" cy="6487673"/>
          </a:xfrm>
          <a:prstGeom prst="rect">
            <a:avLst/>
          </a:prstGeom>
        </p:spPr>
        <p:txBody>
          <a:bodyPr vert="horz" wrap="square" lIns="0" tIns="62230" rIns="0" bIns="0" rtlCol="0">
            <a:spAutoFit/>
          </a:bodyPr>
          <a:lstStyle/>
          <a:p>
            <a:pPr marL="295275">
              <a:lnSpc>
                <a:spcPct val="100000"/>
              </a:lnSpc>
              <a:spcBef>
                <a:spcPts val="490"/>
              </a:spcBef>
            </a:pPr>
            <a:endParaRPr lang="en-US" sz="2000" b="1" u="sng" spc="-30" dirty="0">
              <a:latin typeface="Verdana"/>
              <a:cs typeface="Verdana"/>
            </a:endParaRPr>
          </a:p>
          <a:p>
            <a:pPr marL="295275">
              <a:lnSpc>
                <a:spcPct val="100000"/>
              </a:lnSpc>
              <a:spcBef>
                <a:spcPts val="490"/>
              </a:spcBef>
            </a:pPr>
            <a:r>
              <a:rPr sz="2000" b="1" u="sng" spc="-85" dirty="0">
                <a:latin typeface="Verdana"/>
                <a:cs typeface="Verdana"/>
              </a:rPr>
              <a:t>Step-</a:t>
            </a:r>
            <a:r>
              <a:rPr sz="2000" b="1" u="sng" spc="-105" dirty="0">
                <a:latin typeface="Verdana"/>
                <a:cs typeface="Verdana"/>
              </a:rPr>
              <a:t>by-</a:t>
            </a:r>
            <a:r>
              <a:rPr sz="2000" b="1" u="sng" spc="-30" dirty="0">
                <a:latin typeface="Verdana"/>
                <a:cs typeface="Verdana"/>
              </a:rPr>
              <a:t>step</a:t>
            </a:r>
            <a:r>
              <a:rPr sz="2000" b="1" u="sng" spc="-145" dirty="0">
                <a:latin typeface="Verdana"/>
                <a:cs typeface="Verdana"/>
              </a:rPr>
              <a:t> </a:t>
            </a:r>
            <a:r>
              <a:rPr sz="2000" b="1" u="sng" spc="-10" dirty="0">
                <a:latin typeface="Verdana"/>
                <a:cs typeface="Verdana"/>
              </a:rPr>
              <a:t>working:</a:t>
            </a:r>
            <a:endParaRPr lang="en-US" sz="2000" b="1" u="sng" spc="-10" dirty="0">
              <a:latin typeface="Verdana"/>
              <a:cs typeface="Verdana"/>
            </a:endParaRPr>
          </a:p>
          <a:p>
            <a:pPr marL="295275">
              <a:lnSpc>
                <a:spcPct val="100000"/>
              </a:lnSpc>
              <a:spcBef>
                <a:spcPts val="390"/>
              </a:spcBef>
            </a:pPr>
            <a:r>
              <a:rPr lang="en-US" sz="2000" spc="-10" dirty="0">
                <a:latin typeface="Verdana"/>
                <a:cs typeface="Verdana"/>
              </a:rPr>
              <a:t>1️⃣ How Request is Detected</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IR sensor placed near rooms detects signal/reflection</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If patient request is present → sensor outputs HIGH</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Arduino identifies it as a request</a:t>
            </a:r>
          </a:p>
          <a:p>
            <a:pPr marL="295275">
              <a:lnSpc>
                <a:spcPct val="100000"/>
              </a:lnSpc>
              <a:spcBef>
                <a:spcPts val="390"/>
              </a:spcBef>
            </a:pPr>
            <a:r>
              <a:rPr lang="en-US" sz="2000" spc="-10" dirty="0">
                <a:latin typeface="Verdana"/>
                <a:cs typeface="Verdana"/>
              </a:rPr>
              <a:t>2️⃣ How Robot Navigates</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Robot follows predefined path using IR line-following</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L298N motor driver controls wheel movement</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Ultrasonic sensor detects obstacles and stops robot</a:t>
            </a:r>
          </a:p>
          <a:p>
            <a:pPr marL="295275">
              <a:lnSpc>
                <a:spcPct val="100000"/>
              </a:lnSpc>
              <a:spcBef>
                <a:spcPts val="390"/>
              </a:spcBef>
            </a:pPr>
            <a:r>
              <a:rPr lang="en-US" sz="2000" spc="-10" dirty="0">
                <a:latin typeface="Verdana"/>
                <a:cs typeface="Verdana"/>
              </a:rPr>
              <a:t>3️⃣ How Data is Processed</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Arduino counts number of requests detected</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Stores total requests and rooms visited</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ESP8266 sends data wirelessly (optional feature)</a:t>
            </a:r>
          </a:p>
          <a:p>
            <a:pPr marL="295275">
              <a:lnSpc>
                <a:spcPct val="100000"/>
              </a:lnSpc>
              <a:spcBef>
                <a:spcPts val="390"/>
              </a:spcBef>
            </a:pPr>
            <a:r>
              <a:rPr lang="en-US" sz="2000" spc="-10" dirty="0">
                <a:latin typeface="Verdana"/>
                <a:cs typeface="Verdana"/>
              </a:rPr>
              <a:t>4️⃣ How Output is Given</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LED blinks = number of requests</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Buzzer beeps = number of rooms</a:t>
            </a:r>
          </a:p>
          <a:p>
            <a:pPr marL="638175" indent="-342900">
              <a:lnSpc>
                <a:spcPct val="100000"/>
              </a:lnSpc>
              <a:spcBef>
                <a:spcPts val="390"/>
              </a:spcBef>
              <a:buFont typeface="Arial" panose="020B0604020202020204" pitchFamily="34" charset="0"/>
              <a:buChar char="•"/>
            </a:pPr>
            <a:r>
              <a:rPr lang="en-US" sz="2000" spc="-10" dirty="0">
                <a:latin typeface="Verdana"/>
                <a:cs typeface="Verdana"/>
              </a:rPr>
              <a:t>Data can also be sent to mobile/dashboard</a:t>
            </a:r>
            <a:endParaRPr sz="2000" dirty="0">
              <a:latin typeface="Verdana"/>
              <a:cs typeface="Verdana"/>
            </a:endParaRPr>
          </a:p>
        </p:txBody>
      </p:sp>
      <p:sp>
        <p:nvSpPr>
          <p:cNvPr id="11" name="object 11" descr="$PPTXTitle"/>
          <p:cNvSpPr txBox="1">
            <a:spLocks noGrp="1"/>
          </p:cNvSpPr>
          <p:nvPr>
            <p:ph type="title"/>
          </p:nvPr>
        </p:nvSpPr>
        <p:spPr>
          <a:prstGeom prst="rect">
            <a:avLst/>
          </a:prstGeom>
        </p:spPr>
        <p:txBody>
          <a:bodyPr vert="horz" wrap="square" lIns="0" tIns="12700" rIns="0" bIns="0" rtlCol="0">
            <a:spAutoFit/>
          </a:bodyPr>
          <a:lstStyle/>
          <a:p>
            <a:pPr marL="1897380">
              <a:lnSpc>
                <a:spcPct val="100000"/>
              </a:lnSpc>
              <a:spcBef>
                <a:spcPts val="100"/>
              </a:spcBef>
            </a:pPr>
            <a:r>
              <a:rPr spc="-475" dirty="0"/>
              <a:t>SYSTEM</a:t>
            </a:r>
            <a:r>
              <a:rPr spc="-405" dirty="0"/>
              <a:t> </a:t>
            </a:r>
            <a:r>
              <a:rPr spc="-350" dirty="0"/>
              <a:t>ARCHITECTURE/</a:t>
            </a:r>
            <a:r>
              <a:rPr spc="-405" dirty="0"/>
              <a:t> </a:t>
            </a:r>
            <a:r>
              <a:rPr spc="-409" dirty="0"/>
              <a:t>WORKING</a:t>
            </a:r>
          </a:p>
        </p:txBody>
      </p:sp>
      <p:pic>
        <p:nvPicPr>
          <p:cNvPr id="9" name="Picture 8">
            <a:extLst>
              <a:ext uri="{FF2B5EF4-FFF2-40B4-BE49-F238E27FC236}">
                <a16:creationId xmlns:a16="http://schemas.microsoft.com/office/drawing/2014/main" id="{1C695DC2-5D95-7D47-D003-A4886DE5DFA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72600" y="4259144"/>
            <a:ext cx="7924800" cy="49777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8520" y="2521368"/>
            <a:ext cx="16598900" cy="7239000"/>
          </a:xfrm>
          <a:custGeom>
            <a:avLst/>
            <a:gdLst/>
            <a:ahLst/>
            <a:cxnLst/>
            <a:rect l="l" t="t" r="r" b="b"/>
            <a:pathLst>
              <a:path w="16598900" h="7239000">
                <a:moveTo>
                  <a:pt x="15814334" y="7238821"/>
                </a:moveTo>
                <a:lnTo>
                  <a:pt x="790574" y="7238821"/>
                </a:lnTo>
                <a:lnTo>
                  <a:pt x="742415" y="7237379"/>
                </a:lnTo>
                <a:lnTo>
                  <a:pt x="695018" y="7233106"/>
                </a:lnTo>
                <a:lnTo>
                  <a:pt x="648468" y="7226085"/>
                </a:lnTo>
                <a:lnTo>
                  <a:pt x="602845" y="7216399"/>
                </a:lnTo>
                <a:lnTo>
                  <a:pt x="558234" y="7204130"/>
                </a:lnTo>
                <a:lnTo>
                  <a:pt x="514717" y="7189362"/>
                </a:lnTo>
                <a:lnTo>
                  <a:pt x="472377" y="7172176"/>
                </a:lnTo>
                <a:lnTo>
                  <a:pt x="431295" y="7152657"/>
                </a:lnTo>
                <a:lnTo>
                  <a:pt x="391556" y="7130885"/>
                </a:lnTo>
                <a:lnTo>
                  <a:pt x="353242" y="7106945"/>
                </a:lnTo>
                <a:lnTo>
                  <a:pt x="316434" y="7080918"/>
                </a:lnTo>
                <a:lnTo>
                  <a:pt x="281217" y="7052888"/>
                </a:lnTo>
                <a:lnTo>
                  <a:pt x="247673" y="7022938"/>
                </a:lnTo>
                <a:lnTo>
                  <a:pt x="215884" y="6991149"/>
                </a:lnTo>
                <a:lnTo>
                  <a:pt x="185933" y="6957604"/>
                </a:lnTo>
                <a:lnTo>
                  <a:pt x="157903" y="6922387"/>
                </a:lnTo>
                <a:lnTo>
                  <a:pt x="131876" y="6885580"/>
                </a:lnTo>
                <a:lnTo>
                  <a:pt x="107936" y="6847265"/>
                </a:lnTo>
                <a:lnTo>
                  <a:pt x="86165" y="6807526"/>
                </a:lnTo>
                <a:lnTo>
                  <a:pt x="66645" y="6766445"/>
                </a:lnTo>
                <a:lnTo>
                  <a:pt x="49460" y="6724104"/>
                </a:lnTo>
                <a:lnTo>
                  <a:pt x="34692" y="6680587"/>
                </a:lnTo>
                <a:lnTo>
                  <a:pt x="22423" y="6635976"/>
                </a:lnTo>
                <a:lnTo>
                  <a:pt x="12737" y="6590354"/>
                </a:lnTo>
                <a:lnTo>
                  <a:pt x="5716" y="6543803"/>
                </a:lnTo>
                <a:lnTo>
                  <a:pt x="1442" y="6496407"/>
                </a:lnTo>
                <a:lnTo>
                  <a:pt x="0" y="6448247"/>
                </a:lnTo>
                <a:lnTo>
                  <a:pt x="0" y="790574"/>
                </a:lnTo>
                <a:lnTo>
                  <a:pt x="1442" y="742415"/>
                </a:lnTo>
                <a:lnTo>
                  <a:pt x="5716" y="695018"/>
                </a:lnTo>
                <a:lnTo>
                  <a:pt x="12737" y="648468"/>
                </a:lnTo>
                <a:lnTo>
                  <a:pt x="22423" y="602845"/>
                </a:lnTo>
                <a:lnTo>
                  <a:pt x="34692" y="558234"/>
                </a:lnTo>
                <a:lnTo>
                  <a:pt x="49460" y="514717"/>
                </a:lnTo>
                <a:lnTo>
                  <a:pt x="66645" y="472377"/>
                </a:lnTo>
                <a:lnTo>
                  <a:pt x="86165" y="431295"/>
                </a:lnTo>
                <a:lnTo>
                  <a:pt x="107936" y="391556"/>
                </a:lnTo>
                <a:lnTo>
                  <a:pt x="131876" y="353242"/>
                </a:lnTo>
                <a:lnTo>
                  <a:pt x="157903" y="316434"/>
                </a:lnTo>
                <a:lnTo>
                  <a:pt x="185933" y="281217"/>
                </a:lnTo>
                <a:lnTo>
                  <a:pt x="215884" y="247673"/>
                </a:lnTo>
                <a:lnTo>
                  <a:pt x="247673" y="215884"/>
                </a:lnTo>
                <a:lnTo>
                  <a:pt x="281217" y="185933"/>
                </a:lnTo>
                <a:lnTo>
                  <a:pt x="316434" y="157903"/>
                </a:lnTo>
                <a:lnTo>
                  <a:pt x="353242" y="131876"/>
                </a:lnTo>
                <a:lnTo>
                  <a:pt x="391556" y="107936"/>
                </a:lnTo>
                <a:lnTo>
                  <a:pt x="431295" y="86165"/>
                </a:lnTo>
                <a:lnTo>
                  <a:pt x="472377" y="66645"/>
                </a:lnTo>
                <a:lnTo>
                  <a:pt x="514717" y="49460"/>
                </a:lnTo>
                <a:lnTo>
                  <a:pt x="558234" y="34692"/>
                </a:lnTo>
                <a:lnTo>
                  <a:pt x="602845" y="22423"/>
                </a:lnTo>
                <a:lnTo>
                  <a:pt x="648468" y="12737"/>
                </a:lnTo>
                <a:lnTo>
                  <a:pt x="695018" y="5716"/>
                </a:lnTo>
                <a:lnTo>
                  <a:pt x="742415" y="1442"/>
                </a:lnTo>
                <a:lnTo>
                  <a:pt x="790574" y="0"/>
                </a:lnTo>
                <a:lnTo>
                  <a:pt x="15814334" y="0"/>
                </a:lnTo>
                <a:lnTo>
                  <a:pt x="15862494" y="1442"/>
                </a:lnTo>
                <a:lnTo>
                  <a:pt x="15909890" y="5716"/>
                </a:lnTo>
                <a:lnTo>
                  <a:pt x="15956441" y="12737"/>
                </a:lnTo>
                <a:lnTo>
                  <a:pt x="16002063" y="22423"/>
                </a:lnTo>
                <a:lnTo>
                  <a:pt x="16046674" y="34692"/>
                </a:lnTo>
                <a:lnTo>
                  <a:pt x="16090191" y="49460"/>
                </a:lnTo>
                <a:lnTo>
                  <a:pt x="16132532" y="66645"/>
                </a:lnTo>
                <a:lnTo>
                  <a:pt x="16173613" y="86165"/>
                </a:lnTo>
                <a:lnTo>
                  <a:pt x="16213353" y="107936"/>
                </a:lnTo>
                <a:lnTo>
                  <a:pt x="16251667" y="131876"/>
                </a:lnTo>
                <a:lnTo>
                  <a:pt x="16288475" y="157903"/>
                </a:lnTo>
                <a:lnTo>
                  <a:pt x="16323692" y="185933"/>
                </a:lnTo>
                <a:lnTo>
                  <a:pt x="16357237" y="215884"/>
                </a:lnTo>
                <a:lnTo>
                  <a:pt x="16389026" y="247673"/>
                </a:lnTo>
                <a:lnTo>
                  <a:pt x="16418977" y="281217"/>
                </a:lnTo>
                <a:lnTo>
                  <a:pt x="16447007" y="316434"/>
                </a:lnTo>
                <a:lnTo>
                  <a:pt x="16473033" y="353242"/>
                </a:lnTo>
                <a:lnTo>
                  <a:pt x="16496973" y="391556"/>
                </a:lnTo>
                <a:lnTo>
                  <a:pt x="16518745" y="431295"/>
                </a:lnTo>
                <a:lnTo>
                  <a:pt x="16538264" y="472377"/>
                </a:lnTo>
                <a:lnTo>
                  <a:pt x="16555450" y="514717"/>
                </a:lnTo>
                <a:lnTo>
                  <a:pt x="16570218" y="558234"/>
                </a:lnTo>
                <a:lnTo>
                  <a:pt x="16582487" y="602845"/>
                </a:lnTo>
                <a:lnTo>
                  <a:pt x="16592173" y="648468"/>
                </a:lnTo>
                <a:lnTo>
                  <a:pt x="16598392" y="689698"/>
                </a:lnTo>
                <a:lnTo>
                  <a:pt x="16598392" y="6549123"/>
                </a:lnTo>
                <a:lnTo>
                  <a:pt x="16592173" y="6590354"/>
                </a:lnTo>
                <a:lnTo>
                  <a:pt x="16582487" y="6635976"/>
                </a:lnTo>
                <a:lnTo>
                  <a:pt x="16570218" y="6680587"/>
                </a:lnTo>
                <a:lnTo>
                  <a:pt x="16555450" y="6724104"/>
                </a:lnTo>
                <a:lnTo>
                  <a:pt x="16538264" y="6766445"/>
                </a:lnTo>
                <a:lnTo>
                  <a:pt x="16518745" y="6807526"/>
                </a:lnTo>
                <a:lnTo>
                  <a:pt x="16496973" y="6847265"/>
                </a:lnTo>
                <a:lnTo>
                  <a:pt x="16473033" y="6885580"/>
                </a:lnTo>
                <a:lnTo>
                  <a:pt x="16447007" y="6922387"/>
                </a:lnTo>
                <a:lnTo>
                  <a:pt x="16418977" y="6957604"/>
                </a:lnTo>
                <a:lnTo>
                  <a:pt x="16389026" y="6991149"/>
                </a:lnTo>
                <a:lnTo>
                  <a:pt x="16357237" y="7022938"/>
                </a:lnTo>
                <a:lnTo>
                  <a:pt x="16323692" y="7052888"/>
                </a:lnTo>
                <a:lnTo>
                  <a:pt x="16288475" y="7080918"/>
                </a:lnTo>
                <a:lnTo>
                  <a:pt x="16251667" y="7106945"/>
                </a:lnTo>
                <a:lnTo>
                  <a:pt x="16213353" y="7130885"/>
                </a:lnTo>
                <a:lnTo>
                  <a:pt x="16173613" y="7152657"/>
                </a:lnTo>
                <a:lnTo>
                  <a:pt x="16132532" y="7172176"/>
                </a:lnTo>
                <a:lnTo>
                  <a:pt x="16090191" y="7189362"/>
                </a:lnTo>
                <a:lnTo>
                  <a:pt x="16046674" y="7204130"/>
                </a:lnTo>
                <a:lnTo>
                  <a:pt x="16002063" y="7216399"/>
                </a:lnTo>
                <a:lnTo>
                  <a:pt x="15956441" y="7226085"/>
                </a:lnTo>
                <a:lnTo>
                  <a:pt x="15909890" y="7233106"/>
                </a:lnTo>
                <a:lnTo>
                  <a:pt x="15862494" y="7237379"/>
                </a:lnTo>
                <a:lnTo>
                  <a:pt x="15814334" y="7238821"/>
                </a:lnTo>
                <a:close/>
              </a:path>
            </a:pathLst>
          </a:custGeom>
          <a:solidFill>
            <a:srgbClr val="99ACB5">
              <a:alpha val="79998"/>
            </a:srgbClr>
          </a:solidFill>
        </p:spPr>
        <p:txBody>
          <a:bodyPr wrap="square" lIns="0" tIns="0" rIns="0" bIns="0" rtlCol="0"/>
          <a:lstStyle/>
          <a:p>
            <a:endParaRPr/>
          </a:p>
        </p:txBody>
      </p:sp>
      <p:grpSp>
        <p:nvGrpSpPr>
          <p:cNvPr id="3" name="object 3"/>
          <p:cNvGrpSpPr/>
          <p:nvPr/>
        </p:nvGrpSpPr>
        <p:grpSpPr>
          <a:xfrm>
            <a:off x="1028700" y="151884"/>
            <a:ext cx="9255760" cy="1905000"/>
            <a:chOff x="1028700" y="151884"/>
            <a:chExt cx="9255760" cy="1905000"/>
          </a:xfrm>
        </p:grpSpPr>
        <p:pic>
          <p:nvPicPr>
            <p:cNvPr id="4" name="object 4"/>
            <p:cNvPicPr/>
            <p:nvPr/>
          </p:nvPicPr>
          <p:blipFill>
            <a:blip r:embed="rId2" cstate="print"/>
            <a:stretch>
              <a:fillRect/>
            </a:stretch>
          </p:blipFill>
          <p:spPr>
            <a:xfrm>
              <a:off x="6188118" y="151884"/>
              <a:ext cx="4095749" cy="1904999"/>
            </a:xfrm>
            <a:prstGeom prst="rect">
              <a:avLst/>
            </a:prstGeom>
          </p:spPr>
        </p:pic>
        <p:pic>
          <p:nvPicPr>
            <p:cNvPr id="5" name="object 5"/>
            <p:cNvPicPr/>
            <p:nvPr/>
          </p:nvPicPr>
          <p:blipFill>
            <a:blip r:embed="rId3" cstate="print"/>
            <a:stretch>
              <a:fillRect/>
            </a:stretch>
          </p:blipFill>
          <p:spPr>
            <a:xfrm>
              <a:off x="1028700" y="778269"/>
              <a:ext cx="5162549" cy="1057274"/>
            </a:xfrm>
            <a:prstGeom prst="rect">
              <a:avLst/>
            </a:prstGeom>
          </p:spPr>
        </p:pic>
      </p:grpSp>
      <p:pic>
        <p:nvPicPr>
          <p:cNvPr id="6" name="object 6"/>
          <p:cNvPicPr/>
          <p:nvPr/>
        </p:nvPicPr>
        <p:blipFill>
          <a:blip r:embed="rId4" cstate="print"/>
          <a:stretch>
            <a:fillRect/>
          </a:stretch>
        </p:blipFill>
        <p:spPr>
          <a:xfrm>
            <a:off x="10638686" y="151884"/>
            <a:ext cx="3286124" cy="2247899"/>
          </a:xfrm>
          <a:prstGeom prst="rect">
            <a:avLst/>
          </a:prstGeom>
        </p:spPr>
      </p:pic>
      <p:pic>
        <p:nvPicPr>
          <p:cNvPr id="7" name="object 7"/>
          <p:cNvPicPr/>
          <p:nvPr/>
        </p:nvPicPr>
        <p:blipFill>
          <a:blip r:embed="rId5" cstate="print"/>
          <a:stretch>
            <a:fillRect/>
          </a:stretch>
        </p:blipFill>
        <p:spPr>
          <a:xfrm>
            <a:off x="14309039" y="0"/>
            <a:ext cx="2600324" cy="2600324"/>
          </a:xfrm>
          <a:prstGeom prst="rect">
            <a:avLst/>
          </a:prstGeom>
        </p:spPr>
      </p:pic>
      <p:sp>
        <p:nvSpPr>
          <p:cNvPr id="8" name="object 8" descr="$PPTXTitle"/>
          <p:cNvSpPr txBox="1">
            <a:spLocks noGrp="1"/>
          </p:cNvSpPr>
          <p:nvPr>
            <p:ph type="title"/>
          </p:nvPr>
        </p:nvSpPr>
        <p:spPr>
          <a:xfrm>
            <a:off x="6457893" y="2824161"/>
            <a:ext cx="4998085" cy="680720"/>
          </a:xfrm>
          <a:prstGeom prst="rect">
            <a:avLst/>
          </a:prstGeom>
        </p:spPr>
        <p:txBody>
          <a:bodyPr vert="horz" wrap="square" lIns="0" tIns="12700" rIns="0" bIns="0" rtlCol="0">
            <a:spAutoFit/>
          </a:bodyPr>
          <a:lstStyle/>
          <a:p>
            <a:pPr marL="12700">
              <a:lnSpc>
                <a:spcPct val="100000"/>
              </a:lnSpc>
              <a:spcBef>
                <a:spcPts val="100"/>
              </a:spcBef>
            </a:pPr>
            <a:r>
              <a:rPr spc="-395" dirty="0"/>
              <a:t>CIRCUIT</a:t>
            </a:r>
            <a:r>
              <a:rPr spc="-409" dirty="0"/>
              <a:t> </a:t>
            </a:r>
            <a:r>
              <a:rPr spc="-330" dirty="0"/>
              <a:t>DIAGRAM</a:t>
            </a:r>
          </a:p>
        </p:txBody>
      </p:sp>
      <p:pic>
        <p:nvPicPr>
          <p:cNvPr id="9" name="object 9"/>
          <p:cNvPicPr/>
          <p:nvPr/>
        </p:nvPicPr>
        <p:blipFill>
          <a:blip r:embed="rId6" cstate="print"/>
          <a:stretch>
            <a:fillRect/>
          </a:stretch>
        </p:blipFill>
        <p:spPr>
          <a:xfrm>
            <a:off x="1551766" y="4270661"/>
            <a:ext cx="104775" cy="104774"/>
          </a:xfrm>
          <a:prstGeom prst="rect">
            <a:avLst/>
          </a:prstGeom>
        </p:spPr>
      </p:pic>
      <p:pic>
        <p:nvPicPr>
          <p:cNvPr id="14" name="Picture 13">
            <a:extLst>
              <a:ext uri="{FF2B5EF4-FFF2-40B4-BE49-F238E27FC236}">
                <a16:creationId xmlns:a16="http://schemas.microsoft.com/office/drawing/2014/main" id="{B8A79482-5955-8FDE-5042-94696F4409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39000" y="3695701"/>
            <a:ext cx="4673718" cy="60152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2232961"/>
            <a:ext cx="16601440" cy="7143115"/>
          </a:xfrm>
          <a:custGeom>
            <a:avLst/>
            <a:gdLst/>
            <a:ahLst/>
            <a:cxnLst/>
            <a:rect l="l" t="t" r="r" b="b"/>
            <a:pathLst>
              <a:path w="16601440" h="7143115">
                <a:moveTo>
                  <a:pt x="15814335" y="7142737"/>
                </a:moveTo>
                <a:lnTo>
                  <a:pt x="790575" y="7142737"/>
                </a:lnTo>
                <a:lnTo>
                  <a:pt x="742415" y="7141295"/>
                </a:lnTo>
                <a:lnTo>
                  <a:pt x="695018" y="7137021"/>
                </a:lnTo>
                <a:lnTo>
                  <a:pt x="648468" y="7130000"/>
                </a:lnTo>
                <a:lnTo>
                  <a:pt x="602845" y="7120314"/>
                </a:lnTo>
                <a:lnTo>
                  <a:pt x="558234" y="7108045"/>
                </a:lnTo>
                <a:lnTo>
                  <a:pt x="514717" y="7093277"/>
                </a:lnTo>
                <a:lnTo>
                  <a:pt x="472377" y="7076092"/>
                </a:lnTo>
                <a:lnTo>
                  <a:pt x="431295" y="7056572"/>
                </a:lnTo>
                <a:lnTo>
                  <a:pt x="391556" y="7034801"/>
                </a:lnTo>
                <a:lnTo>
                  <a:pt x="353242" y="7010860"/>
                </a:lnTo>
                <a:lnTo>
                  <a:pt x="316434" y="6984834"/>
                </a:lnTo>
                <a:lnTo>
                  <a:pt x="281217" y="6956804"/>
                </a:lnTo>
                <a:lnTo>
                  <a:pt x="247673" y="6926853"/>
                </a:lnTo>
                <a:lnTo>
                  <a:pt x="215884" y="6895064"/>
                </a:lnTo>
                <a:lnTo>
                  <a:pt x="185933" y="6861520"/>
                </a:lnTo>
                <a:lnTo>
                  <a:pt x="157903" y="6826303"/>
                </a:lnTo>
                <a:lnTo>
                  <a:pt x="131876" y="6789495"/>
                </a:lnTo>
                <a:lnTo>
                  <a:pt x="107936" y="6751181"/>
                </a:lnTo>
                <a:lnTo>
                  <a:pt x="86165" y="6711441"/>
                </a:lnTo>
                <a:lnTo>
                  <a:pt x="66645" y="6670360"/>
                </a:lnTo>
                <a:lnTo>
                  <a:pt x="49460" y="6628020"/>
                </a:lnTo>
                <a:lnTo>
                  <a:pt x="34692" y="6584502"/>
                </a:lnTo>
                <a:lnTo>
                  <a:pt x="22423" y="6539891"/>
                </a:lnTo>
                <a:lnTo>
                  <a:pt x="12737" y="6494269"/>
                </a:lnTo>
                <a:lnTo>
                  <a:pt x="5716" y="6447719"/>
                </a:lnTo>
                <a:lnTo>
                  <a:pt x="1442" y="6400322"/>
                </a:lnTo>
                <a:lnTo>
                  <a:pt x="0" y="6352162"/>
                </a:lnTo>
                <a:lnTo>
                  <a:pt x="0" y="790575"/>
                </a:lnTo>
                <a:lnTo>
                  <a:pt x="1442" y="742415"/>
                </a:lnTo>
                <a:lnTo>
                  <a:pt x="5716" y="695018"/>
                </a:lnTo>
                <a:lnTo>
                  <a:pt x="12737" y="648468"/>
                </a:lnTo>
                <a:lnTo>
                  <a:pt x="22423" y="602845"/>
                </a:lnTo>
                <a:lnTo>
                  <a:pt x="34692" y="558234"/>
                </a:lnTo>
                <a:lnTo>
                  <a:pt x="49460" y="514717"/>
                </a:lnTo>
                <a:lnTo>
                  <a:pt x="66645" y="472377"/>
                </a:lnTo>
                <a:lnTo>
                  <a:pt x="86165" y="431295"/>
                </a:lnTo>
                <a:lnTo>
                  <a:pt x="107936" y="391556"/>
                </a:lnTo>
                <a:lnTo>
                  <a:pt x="131876" y="353242"/>
                </a:lnTo>
                <a:lnTo>
                  <a:pt x="157903" y="316434"/>
                </a:lnTo>
                <a:lnTo>
                  <a:pt x="185933" y="281217"/>
                </a:lnTo>
                <a:lnTo>
                  <a:pt x="215884" y="247673"/>
                </a:lnTo>
                <a:lnTo>
                  <a:pt x="247673" y="215884"/>
                </a:lnTo>
                <a:lnTo>
                  <a:pt x="281217" y="185933"/>
                </a:lnTo>
                <a:lnTo>
                  <a:pt x="316434" y="157903"/>
                </a:lnTo>
                <a:lnTo>
                  <a:pt x="353242" y="131876"/>
                </a:lnTo>
                <a:lnTo>
                  <a:pt x="391556" y="107936"/>
                </a:lnTo>
                <a:lnTo>
                  <a:pt x="431295" y="86165"/>
                </a:lnTo>
                <a:lnTo>
                  <a:pt x="472377" y="66645"/>
                </a:lnTo>
                <a:lnTo>
                  <a:pt x="514717" y="49460"/>
                </a:lnTo>
                <a:lnTo>
                  <a:pt x="558234" y="34692"/>
                </a:lnTo>
                <a:lnTo>
                  <a:pt x="602845" y="22423"/>
                </a:lnTo>
                <a:lnTo>
                  <a:pt x="648468" y="12737"/>
                </a:lnTo>
                <a:lnTo>
                  <a:pt x="695018" y="5716"/>
                </a:lnTo>
                <a:lnTo>
                  <a:pt x="742415" y="1442"/>
                </a:lnTo>
                <a:lnTo>
                  <a:pt x="790575" y="0"/>
                </a:lnTo>
                <a:lnTo>
                  <a:pt x="15814335" y="0"/>
                </a:lnTo>
                <a:lnTo>
                  <a:pt x="15862494" y="1442"/>
                </a:lnTo>
                <a:lnTo>
                  <a:pt x="15909891" y="5716"/>
                </a:lnTo>
                <a:lnTo>
                  <a:pt x="15956442" y="12737"/>
                </a:lnTo>
                <a:lnTo>
                  <a:pt x="16002064" y="22423"/>
                </a:lnTo>
                <a:lnTo>
                  <a:pt x="16046676" y="34692"/>
                </a:lnTo>
                <a:lnTo>
                  <a:pt x="16090193" y="49460"/>
                </a:lnTo>
                <a:lnTo>
                  <a:pt x="16132533" y="66645"/>
                </a:lnTo>
                <a:lnTo>
                  <a:pt x="16173615" y="86165"/>
                </a:lnTo>
                <a:lnTo>
                  <a:pt x="16213354" y="107936"/>
                </a:lnTo>
                <a:lnTo>
                  <a:pt x="16251669" y="131876"/>
                </a:lnTo>
                <a:lnTo>
                  <a:pt x="16288476" y="157903"/>
                </a:lnTo>
                <a:lnTo>
                  <a:pt x="16323693" y="185933"/>
                </a:lnTo>
                <a:lnTo>
                  <a:pt x="16357238" y="215884"/>
                </a:lnTo>
                <a:lnTo>
                  <a:pt x="16389027" y="247673"/>
                </a:lnTo>
                <a:lnTo>
                  <a:pt x="16418978" y="281217"/>
                </a:lnTo>
                <a:lnTo>
                  <a:pt x="16447008" y="316434"/>
                </a:lnTo>
                <a:lnTo>
                  <a:pt x="16473034" y="353242"/>
                </a:lnTo>
                <a:lnTo>
                  <a:pt x="16496975" y="391556"/>
                </a:lnTo>
                <a:lnTo>
                  <a:pt x="16518746" y="431295"/>
                </a:lnTo>
                <a:lnTo>
                  <a:pt x="16538265" y="472377"/>
                </a:lnTo>
                <a:lnTo>
                  <a:pt x="16555451" y="514717"/>
                </a:lnTo>
                <a:lnTo>
                  <a:pt x="16570219" y="558234"/>
                </a:lnTo>
                <a:lnTo>
                  <a:pt x="16582488" y="602845"/>
                </a:lnTo>
                <a:lnTo>
                  <a:pt x="16592174" y="648468"/>
                </a:lnTo>
                <a:lnTo>
                  <a:pt x="16599195" y="695018"/>
                </a:lnTo>
                <a:lnTo>
                  <a:pt x="16601284" y="718187"/>
                </a:lnTo>
                <a:lnTo>
                  <a:pt x="16601284" y="6424550"/>
                </a:lnTo>
                <a:lnTo>
                  <a:pt x="16592174" y="6494269"/>
                </a:lnTo>
                <a:lnTo>
                  <a:pt x="16582488" y="6539891"/>
                </a:lnTo>
                <a:lnTo>
                  <a:pt x="16570219" y="6584502"/>
                </a:lnTo>
                <a:lnTo>
                  <a:pt x="16555451" y="6628020"/>
                </a:lnTo>
                <a:lnTo>
                  <a:pt x="16538265" y="6670360"/>
                </a:lnTo>
                <a:lnTo>
                  <a:pt x="16518746" y="6711441"/>
                </a:lnTo>
                <a:lnTo>
                  <a:pt x="16496975" y="6751181"/>
                </a:lnTo>
                <a:lnTo>
                  <a:pt x="16473034" y="6789495"/>
                </a:lnTo>
                <a:lnTo>
                  <a:pt x="16447008" y="6826303"/>
                </a:lnTo>
                <a:lnTo>
                  <a:pt x="16418978" y="6861520"/>
                </a:lnTo>
                <a:lnTo>
                  <a:pt x="16389027" y="6895064"/>
                </a:lnTo>
                <a:lnTo>
                  <a:pt x="16357238" y="6926853"/>
                </a:lnTo>
                <a:lnTo>
                  <a:pt x="16323693" y="6956804"/>
                </a:lnTo>
                <a:lnTo>
                  <a:pt x="16288476" y="6984834"/>
                </a:lnTo>
                <a:lnTo>
                  <a:pt x="16251669" y="7010860"/>
                </a:lnTo>
                <a:lnTo>
                  <a:pt x="16213354" y="7034801"/>
                </a:lnTo>
                <a:lnTo>
                  <a:pt x="16173615" y="7056572"/>
                </a:lnTo>
                <a:lnTo>
                  <a:pt x="16132533" y="7076092"/>
                </a:lnTo>
                <a:lnTo>
                  <a:pt x="16090193" y="7093277"/>
                </a:lnTo>
                <a:lnTo>
                  <a:pt x="16046676" y="7108045"/>
                </a:lnTo>
                <a:lnTo>
                  <a:pt x="16002064" y="7120314"/>
                </a:lnTo>
                <a:lnTo>
                  <a:pt x="15956442" y="7130000"/>
                </a:lnTo>
                <a:lnTo>
                  <a:pt x="15909891" y="7137021"/>
                </a:lnTo>
                <a:lnTo>
                  <a:pt x="15862494" y="7141295"/>
                </a:lnTo>
                <a:lnTo>
                  <a:pt x="15814335" y="7142737"/>
                </a:lnTo>
                <a:close/>
              </a:path>
            </a:pathLst>
          </a:custGeom>
          <a:solidFill>
            <a:srgbClr val="99ACB5">
              <a:alpha val="79998"/>
            </a:srgbClr>
          </a:solidFill>
        </p:spPr>
        <p:txBody>
          <a:bodyPr wrap="square" lIns="0" tIns="0" rIns="0" bIns="0" rtlCol="0"/>
          <a:lstStyle/>
          <a:p>
            <a:endParaRPr/>
          </a:p>
        </p:txBody>
      </p:sp>
      <p:grpSp>
        <p:nvGrpSpPr>
          <p:cNvPr id="3" name="object 3"/>
          <p:cNvGrpSpPr/>
          <p:nvPr/>
        </p:nvGrpSpPr>
        <p:grpSpPr>
          <a:xfrm>
            <a:off x="1028700" y="135406"/>
            <a:ext cx="9504045" cy="1962150"/>
            <a:chOff x="1028700" y="135406"/>
            <a:chExt cx="9504045" cy="1962150"/>
          </a:xfrm>
        </p:grpSpPr>
        <p:pic>
          <p:nvPicPr>
            <p:cNvPr id="4" name="object 4"/>
            <p:cNvPicPr/>
            <p:nvPr/>
          </p:nvPicPr>
          <p:blipFill>
            <a:blip r:embed="rId2" cstate="print"/>
            <a:stretch>
              <a:fillRect/>
            </a:stretch>
          </p:blipFill>
          <p:spPr>
            <a:xfrm>
              <a:off x="6312796" y="135406"/>
              <a:ext cx="4219574" cy="1962149"/>
            </a:xfrm>
            <a:prstGeom prst="rect">
              <a:avLst/>
            </a:prstGeom>
          </p:spPr>
        </p:pic>
        <p:pic>
          <p:nvPicPr>
            <p:cNvPr id="5" name="object 5"/>
            <p:cNvPicPr/>
            <p:nvPr/>
          </p:nvPicPr>
          <p:blipFill>
            <a:blip r:embed="rId3" cstate="print"/>
            <a:stretch>
              <a:fillRect/>
            </a:stretch>
          </p:blipFill>
          <p:spPr>
            <a:xfrm>
              <a:off x="1028700" y="778269"/>
              <a:ext cx="5286374" cy="1085849"/>
            </a:xfrm>
            <a:prstGeom prst="rect">
              <a:avLst/>
            </a:prstGeom>
          </p:spPr>
        </p:pic>
      </p:grpSp>
      <p:grpSp>
        <p:nvGrpSpPr>
          <p:cNvPr id="6" name="object 6"/>
          <p:cNvGrpSpPr/>
          <p:nvPr/>
        </p:nvGrpSpPr>
        <p:grpSpPr>
          <a:xfrm>
            <a:off x="10854876" y="0"/>
            <a:ext cx="6116955" cy="2520315"/>
            <a:chOff x="10854876" y="0"/>
            <a:chExt cx="6116955" cy="2520315"/>
          </a:xfrm>
        </p:grpSpPr>
        <p:pic>
          <p:nvPicPr>
            <p:cNvPr id="7" name="object 7"/>
            <p:cNvPicPr/>
            <p:nvPr/>
          </p:nvPicPr>
          <p:blipFill>
            <a:blip r:embed="rId4" cstate="print"/>
            <a:stretch>
              <a:fillRect/>
            </a:stretch>
          </p:blipFill>
          <p:spPr>
            <a:xfrm>
              <a:off x="10854876" y="135406"/>
              <a:ext cx="3476625" cy="2381249"/>
            </a:xfrm>
            <a:prstGeom prst="rect">
              <a:avLst/>
            </a:prstGeom>
          </p:spPr>
        </p:pic>
        <p:pic>
          <p:nvPicPr>
            <p:cNvPr id="8" name="object 8"/>
            <p:cNvPicPr/>
            <p:nvPr/>
          </p:nvPicPr>
          <p:blipFill>
            <a:blip r:embed="rId5" cstate="print"/>
            <a:stretch>
              <a:fillRect/>
            </a:stretch>
          </p:blipFill>
          <p:spPr>
            <a:xfrm>
              <a:off x="14333060" y="0"/>
              <a:ext cx="2638424" cy="2519980"/>
            </a:xfrm>
            <a:prstGeom prst="rect">
              <a:avLst/>
            </a:prstGeom>
          </p:spPr>
        </p:pic>
      </p:grpSp>
      <p:sp>
        <p:nvSpPr>
          <p:cNvPr id="14" name="object 14"/>
          <p:cNvSpPr txBox="1"/>
          <p:nvPr/>
        </p:nvSpPr>
        <p:spPr>
          <a:xfrm>
            <a:off x="1676400" y="3705777"/>
            <a:ext cx="13639800" cy="5301901"/>
          </a:xfrm>
          <a:prstGeom prst="rect">
            <a:avLst/>
          </a:prstGeom>
        </p:spPr>
        <p:txBody>
          <a:bodyPr vert="horz" wrap="square" lIns="0" tIns="12700" rIns="0" bIns="0" rtlCol="0">
            <a:spAutoFit/>
          </a:bodyPr>
          <a:lstStyle/>
          <a:p>
            <a:pPr marL="12700" marR="5080">
              <a:lnSpc>
                <a:spcPct val="114100"/>
              </a:lnSpc>
              <a:spcBef>
                <a:spcPts val="100"/>
              </a:spcBef>
            </a:pPr>
            <a:r>
              <a:rPr lang="en-US" sz="2300" b="1" i="1" spc="-75" dirty="0">
                <a:latin typeface="Verdana"/>
                <a:cs typeface="Verdana"/>
              </a:rPr>
              <a:t>INNOVATION</a:t>
            </a:r>
          </a:p>
          <a:p>
            <a:pPr marL="12700" marR="5080">
              <a:lnSpc>
                <a:spcPct val="114100"/>
              </a:lnSpc>
              <a:spcBef>
                <a:spcPts val="100"/>
              </a:spcBef>
            </a:pPr>
            <a:r>
              <a:rPr lang="en-US" sz="1400" spc="-75" dirty="0">
                <a:latin typeface="Verdana"/>
                <a:cs typeface="Verdana"/>
              </a:rPr>
              <a:t>Automated request handling system for hospitals</a:t>
            </a:r>
          </a:p>
          <a:p>
            <a:pPr marL="12700" marR="5080">
              <a:lnSpc>
                <a:spcPct val="114100"/>
              </a:lnSpc>
              <a:spcBef>
                <a:spcPts val="100"/>
              </a:spcBef>
            </a:pPr>
            <a:r>
              <a:rPr lang="en-US" sz="1400" spc="-75" dirty="0">
                <a:latin typeface="Verdana"/>
                <a:cs typeface="Verdana"/>
              </a:rPr>
              <a:t>Real-time request counting and reporting</a:t>
            </a:r>
          </a:p>
          <a:p>
            <a:pPr marL="12700" marR="5080">
              <a:lnSpc>
                <a:spcPct val="114100"/>
              </a:lnSpc>
              <a:spcBef>
                <a:spcPts val="100"/>
              </a:spcBef>
            </a:pPr>
            <a:r>
              <a:rPr lang="en-US" sz="1400" spc="-75" dirty="0">
                <a:latin typeface="Verdana"/>
                <a:cs typeface="Verdana"/>
              </a:rPr>
              <a:t>Low-cost alternative to complex hospital automation</a:t>
            </a:r>
          </a:p>
          <a:p>
            <a:pPr marL="12700" marR="5080">
              <a:lnSpc>
                <a:spcPct val="114100"/>
              </a:lnSpc>
              <a:spcBef>
                <a:spcPts val="100"/>
              </a:spcBef>
            </a:pPr>
            <a:r>
              <a:rPr lang="en-US" sz="1400" spc="-75" dirty="0">
                <a:latin typeface="Verdana"/>
                <a:cs typeface="Verdana"/>
              </a:rPr>
              <a:t>🟦 FEASIBILITY</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Built using readily available components</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Cost-effective and easy to deploy</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Scalable for different hospital sizes</a:t>
            </a:r>
          </a:p>
          <a:p>
            <a:pPr marL="12700" marR="5080">
              <a:lnSpc>
                <a:spcPct val="114100"/>
              </a:lnSpc>
              <a:spcBef>
                <a:spcPts val="100"/>
              </a:spcBef>
            </a:pPr>
            <a:r>
              <a:rPr lang="en-US" sz="1400" spc="-75" dirty="0">
                <a:latin typeface="Verdana"/>
                <a:cs typeface="Verdana"/>
              </a:rPr>
              <a:t>🟦 EXPECTED OUTPUT</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Reliable detection of room requests</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Accurate request count</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Timely communication to pharmacy</a:t>
            </a:r>
          </a:p>
          <a:p>
            <a:pPr marL="12700" marR="5080">
              <a:lnSpc>
                <a:spcPct val="114100"/>
              </a:lnSpc>
              <a:spcBef>
                <a:spcPts val="100"/>
              </a:spcBef>
            </a:pPr>
            <a:r>
              <a:rPr lang="en-US" sz="1400" spc="-75" dirty="0">
                <a:latin typeface="Verdana"/>
                <a:cs typeface="Verdana"/>
              </a:rPr>
              <a:t>🟦 ROBOT BEHAVIOR</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Follows predefined path autonomously</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Stops at each room for request check</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Completes operation without human intervention</a:t>
            </a:r>
          </a:p>
          <a:p>
            <a:pPr marL="12700" marR="5080">
              <a:lnSpc>
                <a:spcPct val="114100"/>
              </a:lnSpc>
              <a:spcBef>
                <a:spcPts val="100"/>
              </a:spcBef>
            </a:pPr>
            <a:r>
              <a:rPr lang="en-US" sz="1400" spc="-75" dirty="0">
                <a:latin typeface="Verdana"/>
                <a:cs typeface="Verdana"/>
              </a:rPr>
              <a:t>🟦 REQUEST COUNT &amp; DISPLAY</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Requests counted using microcontroller logic</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LED indicates total requests</a:t>
            </a:r>
          </a:p>
          <a:p>
            <a:pPr marL="298450" marR="5080" indent="-285750">
              <a:lnSpc>
                <a:spcPct val="114100"/>
              </a:lnSpc>
              <a:spcBef>
                <a:spcPts val="100"/>
              </a:spcBef>
              <a:buFont typeface="Arial" panose="020B0604020202020204" pitchFamily="34" charset="0"/>
              <a:buChar char="•"/>
            </a:pPr>
            <a:r>
              <a:rPr lang="en-US" sz="1400" spc="-75" dirty="0">
                <a:latin typeface="Verdana"/>
                <a:cs typeface="Verdana"/>
              </a:rPr>
              <a:t>Buzzer provides alert notification</a:t>
            </a:r>
            <a:endParaRPr sz="1400" dirty="0">
              <a:latin typeface="Verdana"/>
              <a:cs typeface="Verdana"/>
            </a:endParaRPr>
          </a:p>
        </p:txBody>
      </p:sp>
      <p:sp>
        <p:nvSpPr>
          <p:cNvPr id="15" name="object 15" descr="$PPTXTitle"/>
          <p:cNvSpPr txBox="1">
            <a:spLocks noGrp="1"/>
          </p:cNvSpPr>
          <p:nvPr>
            <p:ph type="title"/>
          </p:nvPr>
        </p:nvSpPr>
        <p:spPr>
          <a:xfrm>
            <a:off x="4157760" y="2864251"/>
            <a:ext cx="9946640" cy="680720"/>
          </a:xfrm>
          <a:prstGeom prst="rect">
            <a:avLst/>
          </a:prstGeom>
        </p:spPr>
        <p:txBody>
          <a:bodyPr vert="horz" wrap="square" lIns="0" tIns="12700" rIns="0" bIns="0" rtlCol="0">
            <a:spAutoFit/>
          </a:bodyPr>
          <a:lstStyle/>
          <a:p>
            <a:pPr marL="12700">
              <a:lnSpc>
                <a:spcPct val="100000"/>
              </a:lnSpc>
              <a:spcBef>
                <a:spcPts val="100"/>
              </a:spcBef>
            </a:pPr>
            <a:r>
              <a:rPr spc="-370" dirty="0"/>
              <a:t>INNOVATION,</a:t>
            </a:r>
            <a:r>
              <a:rPr spc="-400" dirty="0"/>
              <a:t> </a:t>
            </a:r>
            <a:r>
              <a:rPr spc="-415" dirty="0"/>
              <a:t>FEASIBILITY</a:t>
            </a:r>
            <a:r>
              <a:rPr spc="-400" dirty="0"/>
              <a:t> </a:t>
            </a:r>
            <a:r>
              <a:rPr spc="-994" dirty="0"/>
              <a:t>&amp;</a:t>
            </a:r>
            <a:r>
              <a:rPr spc="-395" dirty="0"/>
              <a:t> </a:t>
            </a:r>
            <a:r>
              <a:rPr spc="-415" dirty="0"/>
              <a:t>OUTPUT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356</Words>
  <Application>Microsoft Office PowerPoint</Application>
  <PresentationFormat>Custom</PresentationFormat>
  <Paragraphs>59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 Black</vt:lpstr>
      <vt:lpstr>Calibri</vt:lpstr>
      <vt:lpstr>Verdana</vt:lpstr>
      <vt:lpstr>Office Theme</vt:lpstr>
      <vt:lpstr>HARDWARE HACKATHON ROUND 1 -TITLE OF THE PROJECT-</vt:lpstr>
      <vt:lpstr>PROBLEM UNDERSTANDING &amp; PROPOSED IDEA</vt:lpstr>
      <vt:lpstr>SYSTEM ARCHITECTURE/ WORKING</vt:lpstr>
      <vt:lpstr>CIRCUIT DIAGRAM</vt:lpstr>
      <vt:lpstr>INNOVATION, FEASIBILITY &amp; 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 1 PPT template</dc:title>
  <dc:creator>Bhumika Asritha</dc:creator>
  <cp:keywords>DAHFD7_7Qso,BAGLsUeCSLY,0</cp:keywords>
  <cp:lastModifiedBy>Admin</cp:lastModifiedBy>
  <cp:revision>2</cp:revision>
  <dcterms:created xsi:type="dcterms:W3CDTF">2026-03-28T05:40:20Z</dcterms:created>
  <dcterms:modified xsi:type="dcterms:W3CDTF">2026-03-28T06:10:10Z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2026-03-28T00:00:00Z</vt:filetime>
  </property>
  <property fmtid="{D5CDD505-2E9C-101B-9397-08002B2CF9AE}" pid="3" name="Creator">
    <vt:lpwstr>Canva</vt:lpwstr>
  </property>
  <property fmtid="{D5CDD505-2E9C-101B-9397-08002B2CF9AE}" pid="4" name="LastSaved">
    <vt:filetime>2026-03-28T00:00:00Z</vt:filetime>
  </property>
  <property fmtid="{D5CDD505-2E9C-101B-9397-08002B2CF9AE}" pid="5" name="Producer">
    <vt:lpwstr>Canva</vt:lpwstr>
  </property>
</Properties>
</file>